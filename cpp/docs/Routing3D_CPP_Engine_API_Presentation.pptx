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f54cde3a1e4c87" /><Relationship Type="http://schemas.openxmlformats.org/officeDocument/2006/relationships/extended-properties" Target="/docProps/app.xml" Id="R3e68f7e11a7848f6" /><Relationship Type="http://schemas.openxmlformats.org/officeDocument/2006/relationships/officeDocument" Target="/ppt/presentation.xml" Id="R495b6e02f7c544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5c905b8a8a414f"/>
  </p:sldMasterIdLst>
  <p:notesMasterIdLst>
    <p:notesMasterId xmlns:r="http://schemas.openxmlformats.org/officeDocument/2006/relationships" r:id="Rdd30f3a3dc7a41a0"/>
  </p:notesMasterIdLst>
  <p:sldIdLst>
    <p:sldId xmlns:r="http://schemas.openxmlformats.org/officeDocument/2006/relationships" id="256" r:id="R6dc4f33f10284a8d"/>
    <p:sldId xmlns:r="http://schemas.openxmlformats.org/officeDocument/2006/relationships" id="257" r:id="R9f0f210a563943bd"/>
    <p:sldId xmlns:r="http://schemas.openxmlformats.org/officeDocument/2006/relationships" id="258" r:id="R6d9c564307064460"/>
    <p:sldId xmlns:r="http://schemas.openxmlformats.org/officeDocument/2006/relationships" id="259" r:id="Rf15fe36d27254442"/>
    <p:sldId xmlns:r="http://schemas.openxmlformats.org/officeDocument/2006/relationships" id="260" r:id="R788c497046cb4bb2"/>
    <p:sldId xmlns:r="http://schemas.openxmlformats.org/officeDocument/2006/relationships" id="261" r:id="R660e0fdcaa77435b"/>
    <p:sldId xmlns:r="http://schemas.openxmlformats.org/officeDocument/2006/relationships" id="262" r:id="Rf487ace84667424b"/>
    <p:sldId xmlns:r="http://schemas.openxmlformats.org/officeDocument/2006/relationships" id="263" r:id="Rd2d2cff561d54106"/>
    <p:sldId xmlns:r="http://schemas.openxmlformats.org/officeDocument/2006/relationships" id="264" r:id="R537d6245ca7d43d2"/>
    <p:sldId xmlns:r="http://schemas.openxmlformats.org/officeDocument/2006/relationships" id="265" r:id="R52680e8853f74ae5"/>
    <p:sldId xmlns:r="http://schemas.openxmlformats.org/officeDocument/2006/relationships" id="266" r:id="R9c3f540b87d94aec"/>
    <p:sldId xmlns:r="http://schemas.openxmlformats.org/officeDocument/2006/relationships" id="267" r:id="Rdc702916e22c4d69"/>
    <p:sldId xmlns:r="http://schemas.openxmlformats.org/officeDocument/2006/relationships" id="268" r:id="R002763d69a124fe6"/>
    <p:sldId xmlns:r="http://schemas.openxmlformats.org/officeDocument/2006/relationships" id="269" r:id="Rac39866fe09c4d04"/>
    <p:sldId xmlns:r="http://schemas.openxmlformats.org/officeDocument/2006/relationships" id="270" r:id="Rc071a2b0022641e0"/>
    <p:sldId xmlns:r="http://schemas.openxmlformats.org/officeDocument/2006/relationships" id="271" r:id="Rccd942383b9e4eba"/>
    <p:sldId xmlns:r="http://schemas.openxmlformats.org/officeDocument/2006/relationships" id="272" r:id="Rd6690bf92d7c4089"/>
    <p:sldId xmlns:r="http://schemas.openxmlformats.org/officeDocument/2006/relationships" id="273" r:id="R0fa7b1f93e9c4af3"/>
    <p:sldId xmlns:r="http://schemas.openxmlformats.org/officeDocument/2006/relationships" id="274" r:id="Rd44b9178e32e4e3b"/>
    <p:sldId xmlns:r="http://schemas.openxmlformats.org/officeDocument/2006/relationships" id="275" r:id="R0b4067bba8264170"/>
    <p:sldId xmlns:r="http://schemas.openxmlformats.org/officeDocument/2006/relationships" id="276" r:id="R8cf1b91ee68c4f20"/>
    <p:sldId xmlns:r="http://schemas.openxmlformats.org/officeDocument/2006/relationships" id="277" r:id="R76aa6cb59c984ee2"/>
    <p:sldId xmlns:r="http://schemas.openxmlformats.org/officeDocument/2006/relationships" id="278" r:id="Rea6f7bd09da54e5a"/>
    <p:sldId xmlns:r="http://schemas.openxmlformats.org/officeDocument/2006/relationships" id="279" r:id="Rb24a489c27b14a5c"/>
    <p:sldId xmlns:r="http://schemas.openxmlformats.org/officeDocument/2006/relationships" id="280" r:id="Rdee1ea65a5b44261"/>
    <p:sldId xmlns:r="http://schemas.openxmlformats.org/officeDocument/2006/relationships" id="281" r:id="Rf0984a8879bc4b84"/>
    <p:sldId xmlns:r="http://schemas.openxmlformats.org/officeDocument/2006/relationships" id="282" r:id="R621d51a637484777"/>
    <p:sldId xmlns:r="http://schemas.openxmlformats.org/officeDocument/2006/relationships" id="283" r:id="R96f2bcae96fe434e"/>
    <p:sldId xmlns:r="http://schemas.openxmlformats.org/officeDocument/2006/relationships" id="284" r:id="R503d2f6fad694a09"/>
    <p:sldId xmlns:r="http://schemas.openxmlformats.org/officeDocument/2006/relationships" id="285" r:id="Rb90ce3c529404179"/>
    <p:sldId xmlns:r="http://schemas.openxmlformats.org/officeDocument/2006/relationships" id="286" r:id="R6d55cfb5d7254507"/>
    <p:sldId xmlns:r="http://schemas.openxmlformats.org/officeDocument/2006/relationships" id="287" r:id="R5f888fff280f426a"/>
    <p:sldId xmlns:r="http://schemas.openxmlformats.org/officeDocument/2006/relationships" id="288" r:id="R455bcf1e562f4870"/>
    <p:sldId xmlns:r="http://schemas.openxmlformats.org/officeDocument/2006/relationships" id="289" r:id="R913752753c43446a"/>
    <p:sldId xmlns:r="http://schemas.openxmlformats.org/officeDocument/2006/relationships" id="290" r:id="R57c2a0a1a4fc4630"/>
    <p:sldId xmlns:r="http://schemas.openxmlformats.org/officeDocument/2006/relationships" id="291" r:id="Rd3322e60716d4c59"/>
    <p:sldId xmlns:r="http://schemas.openxmlformats.org/officeDocument/2006/relationships" id="292" r:id="Rf8a73f9b62b24b67"/>
    <p:sldId xmlns:r="http://schemas.openxmlformats.org/officeDocument/2006/relationships" id="293" r:id="R7116ce64e7a94d4e"/>
    <p:sldId xmlns:r="http://schemas.openxmlformats.org/officeDocument/2006/relationships" id="294" r:id="Rd30720c7281d45ce"/>
    <p:sldId xmlns:r="http://schemas.openxmlformats.org/officeDocument/2006/relationships" id="295" r:id="Rfaa88999ab5e42e3"/>
    <p:sldId xmlns:r="http://schemas.openxmlformats.org/officeDocument/2006/relationships" id="296" r:id="R1e78d0b0f020453c"/>
    <p:sldId xmlns:r="http://schemas.openxmlformats.org/officeDocument/2006/relationships" id="297" r:id="Red872af24556420e"/>
    <p:sldId xmlns:r="http://schemas.openxmlformats.org/officeDocument/2006/relationships" id="298" r:id="Reb84ee0c81084c8c"/>
    <p:sldId xmlns:r="http://schemas.openxmlformats.org/officeDocument/2006/relationships" id="299" r:id="Raa00a8eccf40444b"/>
    <p:sldId xmlns:r="http://schemas.openxmlformats.org/officeDocument/2006/relationships" id="300" r:id="R394bbeb82c174788"/>
    <p:sldId xmlns:r="http://schemas.openxmlformats.org/officeDocument/2006/relationships" id="301" r:id="R81db1b94198c44c9"/>
    <p:sldId xmlns:r="http://schemas.openxmlformats.org/officeDocument/2006/relationships" id="302" r:id="R21cc4f903fa143cd"/>
    <p:sldId xmlns:r="http://schemas.openxmlformats.org/officeDocument/2006/relationships" id="303" r:id="R8f70fa0f3f5d4892"/>
    <p:sldId xmlns:r="http://schemas.openxmlformats.org/officeDocument/2006/relationships" id="304" r:id="Rbe45b018960c4470"/>
    <p:sldId xmlns:r="http://schemas.openxmlformats.org/officeDocument/2006/relationships" id="305" r:id="Ra7501db49d234a58"/>
    <p:sldId xmlns:r="http://schemas.openxmlformats.org/officeDocument/2006/relationships" id="306" r:id="Rbc23858e8e2c4081"/>
    <p:sldId xmlns:r="http://schemas.openxmlformats.org/officeDocument/2006/relationships" id="307" r:id="R06bd70f1ce04409f"/>
    <p:sldId xmlns:r="http://schemas.openxmlformats.org/officeDocument/2006/relationships" id="308" r:id="R93787fb29fc944b4"/>
    <p:sldId xmlns:r="http://schemas.openxmlformats.org/officeDocument/2006/relationships" id="309" r:id="Re6b06d04905b4b26"/>
    <p:sldId xmlns:r="http://schemas.openxmlformats.org/officeDocument/2006/relationships" id="310" r:id="R00cde11891cf4f5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afdfc6364c429b" /><Relationship Type="http://schemas.openxmlformats.org/officeDocument/2006/relationships/slideMaster" Target="/ppt/slideMasters/slideMaster1.xml" Id="R5f5c905b8a8a414f" /><Relationship Type="http://schemas.openxmlformats.org/officeDocument/2006/relationships/notesMaster" Target="/ppt/notesMasters/notesMaster1.xml" Id="Rdd30f3a3dc7a41a0" /><Relationship Type="http://schemas.openxmlformats.org/officeDocument/2006/relationships/presProps" Target="/ppt/presProps.xml" Id="Rbdc925c51bb14e37" /><Relationship Type="http://schemas.openxmlformats.org/officeDocument/2006/relationships/tableStyles" Target="/ppt/tableStyles.xml" Id="R74c3114e99cc4a2d" /><Relationship Type="http://schemas.openxmlformats.org/officeDocument/2006/relationships/slide" Target="/ppt/slides/slide1.xml" Id="R6dc4f33f10284a8d" /><Relationship Type="http://schemas.openxmlformats.org/officeDocument/2006/relationships/slide" Target="/ppt/slides/slide2.xml" Id="R9f0f210a563943bd" /><Relationship Type="http://schemas.openxmlformats.org/officeDocument/2006/relationships/slide" Target="/ppt/slides/slide3.xml" Id="R6d9c564307064460" /><Relationship Type="http://schemas.openxmlformats.org/officeDocument/2006/relationships/slide" Target="/ppt/slides/slide4.xml" Id="Rf15fe36d27254442" /><Relationship Type="http://schemas.openxmlformats.org/officeDocument/2006/relationships/slide" Target="/ppt/slides/slide5.xml" Id="R788c497046cb4bb2" /><Relationship Type="http://schemas.openxmlformats.org/officeDocument/2006/relationships/slide" Target="/ppt/slides/slide6.xml" Id="R660e0fdcaa77435b" /><Relationship Type="http://schemas.openxmlformats.org/officeDocument/2006/relationships/slide" Target="/ppt/slides/slide7.xml" Id="Rf487ace84667424b" /><Relationship Type="http://schemas.openxmlformats.org/officeDocument/2006/relationships/slide" Target="/ppt/slides/slide8.xml" Id="Rd2d2cff561d54106" /><Relationship Type="http://schemas.openxmlformats.org/officeDocument/2006/relationships/slide" Target="/ppt/slides/slide9.xml" Id="R537d6245ca7d43d2" /><Relationship Type="http://schemas.openxmlformats.org/officeDocument/2006/relationships/slide" Target="/ppt/slides/slide10.xml" Id="R52680e8853f74ae5" /><Relationship Type="http://schemas.openxmlformats.org/officeDocument/2006/relationships/slide" Target="/ppt/slides/slide11.xml" Id="R9c3f540b87d94aec" /><Relationship Type="http://schemas.openxmlformats.org/officeDocument/2006/relationships/slide" Target="/ppt/slides/slide12.xml" Id="Rdc702916e22c4d69" /><Relationship Type="http://schemas.openxmlformats.org/officeDocument/2006/relationships/slide" Target="/ppt/slides/slide13.xml" Id="R002763d69a124fe6" /><Relationship Type="http://schemas.openxmlformats.org/officeDocument/2006/relationships/slide" Target="/ppt/slides/slide14.xml" Id="Rac39866fe09c4d04" /><Relationship Type="http://schemas.openxmlformats.org/officeDocument/2006/relationships/slide" Target="/ppt/slides/slide15.xml" Id="Rc071a2b0022641e0" /><Relationship Type="http://schemas.openxmlformats.org/officeDocument/2006/relationships/slide" Target="/ppt/slides/slide16.xml" Id="Rccd942383b9e4eba" /><Relationship Type="http://schemas.openxmlformats.org/officeDocument/2006/relationships/slide" Target="/ppt/slides/slide17.xml" Id="Rd6690bf92d7c4089" /><Relationship Type="http://schemas.openxmlformats.org/officeDocument/2006/relationships/slide" Target="/ppt/slides/slide18.xml" Id="R0fa7b1f93e9c4af3" /><Relationship Type="http://schemas.openxmlformats.org/officeDocument/2006/relationships/slide" Target="/ppt/slides/slide19.xml" Id="Rd44b9178e32e4e3b" /><Relationship Type="http://schemas.openxmlformats.org/officeDocument/2006/relationships/slide" Target="/ppt/slides/slide20.xml" Id="R0b4067bba8264170" /><Relationship Type="http://schemas.openxmlformats.org/officeDocument/2006/relationships/slide" Target="/ppt/slides/slide21.xml" Id="R8cf1b91ee68c4f20" /><Relationship Type="http://schemas.openxmlformats.org/officeDocument/2006/relationships/slide" Target="/ppt/slides/slide22.xml" Id="R76aa6cb59c984ee2" /><Relationship Type="http://schemas.openxmlformats.org/officeDocument/2006/relationships/slide" Target="/ppt/slides/slide23.xml" Id="Rea6f7bd09da54e5a" /><Relationship Type="http://schemas.openxmlformats.org/officeDocument/2006/relationships/slide" Target="/ppt/slides/slide24.xml" Id="Rb24a489c27b14a5c" /><Relationship Type="http://schemas.openxmlformats.org/officeDocument/2006/relationships/slide" Target="/ppt/slides/slide25.xml" Id="Rdee1ea65a5b44261" /><Relationship Type="http://schemas.openxmlformats.org/officeDocument/2006/relationships/slide" Target="/ppt/slides/slide26.xml" Id="Rf0984a8879bc4b84" /><Relationship Type="http://schemas.openxmlformats.org/officeDocument/2006/relationships/slide" Target="/ppt/slides/slide27.xml" Id="R621d51a637484777" /><Relationship Type="http://schemas.openxmlformats.org/officeDocument/2006/relationships/slide" Target="/ppt/slides/slide28.xml" Id="R96f2bcae96fe434e" /><Relationship Type="http://schemas.openxmlformats.org/officeDocument/2006/relationships/slide" Target="/ppt/slides/slide29.xml" Id="R503d2f6fad694a09" /><Relationship Type="http://schemas.openxmlformats.org/officeDocument/2006/relationships/slide" Target="/ppt/slides/slide30.xml" Id="Rb90ce3c529404179" /><Relationship Type="http://schemas.openxmlformats.org/officeDocument/2006/relationships/slide" Target="/ppt/slides/slide31.xml" Id="R6d55cfb5d7254507" /><Relationship Type="http://schemas.openxmlformats.org/officeDocument/2006/relationships/slide" Target="/ppt/slides/slide32.xml" Id="R5f888fff280f426a" /><Relationship Type="http://schemas.openxmlformats.org/officeDocument/2006/relationships/slide" Target="/ppt/slides/slide33.xml" Id="R455bcf1e562f4870" /><Relationship Type="http://schemas.openxmlformats.org/officeDocument/2006/relationships/slide" Target="/ppt/slides/slide34.xml" Id="R913752753c43446a" /><Relationship Type="http://schemas.openxmlformats.org/officeDocument/2006/relationships/slide" Target="/ppt/slides/slide35.xml" Id="R57c2a0a1a4fc4630" /><Relationship Type="http://schemas.openxmlformats.org/officeDocument/2006/relationships/slide" Target="/ppt/slides/slide36.xml" Id="Rd3322e60716d4c59" /><Relationship Type="http://schemas.openxmlformats.org/officeDocument/2006/relationships/slide" Target="/ppt/slides/slide37.xml" Id="Rf8a73f9b62b24b67" /><Relationship Type="http://schemas.openxmlformats.org/officeDocument/2006/relationships/slide" Target="/ppt/slides/slide38.xml" Id="R7116ce64e7a94d4e" /><Relationship Type="http://schemas.openxmlformats.org/officeDocument/2006/relationships/slide" Target="/ppt/slides/slide39.xml" Id="Rd30720c7281d45ce" /><Relationship Type="http://schemas.openxmlformats.org/officeDocument/2006/relationships/slide" Target="/ppt/slides/slide40.xml" Id="Rfaa88999ab5e42e3" /><Relationship Type="http://schemas.openxmlformats.org/officeDocument/2006/relationships/slide" Target="/ppt/slides/slide41.xml" Id="R1e78d0b0f020453c" /><Relationship Type="http://schemas.openxmlformats.org/officeDocument/2006/relationships/slide" Target="/ppt/slides/slide42.xml" Id="Red872af24556420e" /><Relationship Type="http://schemas.openxmlformats.org/officeDocument/2006/relationships/slide" Target="/ppt/slides/slide43.xml" Id="Reb84ee0c81084c8c" /><Relationship Type="http://schemas.openxmlformats.org/officeDocument/2006/relationships/slide" Target="/ppt/slides/slide44.xml" Id="Raa00a8eccf40444b" /><Relationship Type="http://schemas.openxmlformats.org/officeDocument/2006/relationships/slide" Target="/ppt/slides/slide45.xml" Id="R394bbeb82c174788" /><Relationship Type="http://schemas.openxmlformats.org/officeDocument/2006/relationships/slide" Target="/ppt/slides/slide46.xml" Id="R81db1b94198c44c9" /><Relationship Type="http://schemas.openxmlformats.org/officeDocument/2006/relationships/slide" Target="/ppt/slides/slide47.xml" Id="R21cc4f903fa143cd" /><Relationship Type="http://schemas.openxmlformats.org/officeDocument/2006/relationships/slide" Target="/ppt/slides/slide48.xml" Id="R8f70fa0f3f5d4892" /><Relationship Type="http://schemas.openxmlformats.org/officeDocument/2006/relationships/slide" Target="/ppt/slides/slide49.xml" Id="Rbe45b018960c4470" /><Relationship Type="http://schemas.openxmlformats.org/officeDocument/2006/relationships/slide" Target="/ppt/slides/slide50.xml" Id="Ra7501db49d234a58" /><Relationship Type="http://schemas.openxmlformats.org/officeDocument/2006/relationships/slide" Target="/ppt/slides/slide51.xml" Id="Rbc23858e8e2c4081" /><Relationship Type="http://schemas.openxmlformats.org/officeDocument/2006/relationships/slide" Target="/ppt/slides/slide52.xml" Id="R06bd70f1ce04409f" /><Relationship Type="http://schemas.openxmlformats.org/officeDocument/2006/relationships/slide" Target="/ppt/slides/slide53.xml" Id="R93787fb29fc944b4" /><Relationship Type="http://schemas.openxmlformats.org/officeDocument/2006/relationships/slide" Target="/ppt/slides/slide54.xml" Id="Re6b06d04905b4b26" /><Relationship Type="http://schemas.openxmlformats.org/officeDocument/2006/relationships/slide" Target="/ppt/slides/slide55.xml" Id="R00cde11891cf4f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95287ba62748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6deba3b3db497f" /><Relationship Type="http://schemas.openxmlformats.org/officeDocument/2006/relationships/notesMaster" Target="/ppt/notesMasters/notesMaster1.xml" Id="R498c308541d84a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2bf679012e422e" /><Relationship Type="http://schemas.openxmlformats.org/officeDocument/2006/relationships/notesMaster" Target="/ppt/notesMasters/notesMaster1.xml" Id="R63fd5b13977142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1805a9c0c148cc" /><Relationship Type="http://schemas.openxmlformats.org/officeDocument/2006/relationships/notesMaster" Target="/ppt/notesMasters/notesMaster1.xml" Id="R9c555fb5519f48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adfdc508fa4988" /><Relationship Type="http://schemas.openxmlformats.org/officeDocument/2006/relationships/notesMaster" Target="/ppt/notesMasters/notesMaster1.xml" Id="Rd8f51d919ebc49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952cc2b23241a5" /><Relationship Type="http://schemas.openxmlformats.org/officeDocument/2006/relationships/notesMaster" Target="/ppt/notesMasters/notesMaster1.xml" Id="Rcc063a8cf74f40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6eb26687524a26" /><Relationship Type="http://schemas.openxmlformats.org/officeDocument/2006/relationships/notesMaster" Target="/ppt/notesMasters/notesMaster1.xml" Id="Rfd8f1b6780494a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bbf7b2cb6c432e" /><Relationship Type="http://schemas.openxmlformats.org/officeDocument/2006/relationships/notesMaster" Target="/ppt/notesMasters/notesMaster1.xml" Id="Rc245330f472745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5607a588df4307" /><Relationship Type="http://schemas.openxmlformats.org/officeDocument/2006/relationships/notesMaster" Target="/ppt/notesMasters/notesMaster1.xml" Id="R260b3ba3b39a46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adb24c7a6f43ff" /><Relationship Type="http://schemas.openxmlformats.org/officeDocument/2006/relationships/notesMaster" Target="/ppt/notesMasters/notesMaster1.xml" Id="R604d3b44e73740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84df5d6d34409b" /><Relationship Type="http://schemas.openxmlformats.org/officeDocument/2006/relationships/notesMaster" Target="/ppt/notesMasters/notesMaster1.xml" Id="R507dfef94ecd42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1f4a6e1cdd466c" /><Relationship Type="http://schemas.openxmlformats.org/officeDocument/2006/relationships/notesMaster" Target="/ppt/notesMasters/notesMaster1.xml" Id="R1e8af00bb42840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c348402f0a242cf" /><Relationship Type="http://schemas.openxmlformats.org/officeDocument/2006/relationships/notesMaster" Target="/ppt/notesMasters/notesMaster1.xml" Id="R6f31f6d24f7d441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0025fc1b7574120" /><Relationship Type="http://schemas.openxmlformats.org/officeDocument/2006/relationships/notesMaster" Target="/ppt/notesMasters/notesMaster1.xml" Id="R8705e222e18d46f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3c75eb450054c62" /><Relationship Type="http://schemas.openxmlformats.org/officeDocument/2006/relationships/notesMaster" Target="/ppt/notesMasters/notesMaster1.xml" Id="Rc553f00d346c478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8064dc3af6e42eb" /><Relationship Type="http://schemas.openxmlformats.org/officeDocument/2006/relationships/notesMaster" Target="/ppt/notesMasters/notesMaster1.xml" Id="R9eba67f778bd429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3910382384b4d76" /><Relationship Type="http://schemas.openxmlformats.org/officeDocument/2006/relationships/notesMaster" Target="/ppt/notesMasters/notesMaster1.xml" Id="R452fdc5f9774427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93d580d82b04a04" /><Relationship Type="http://schemas.openxmlformats.org/officeDocument/2006/relationships/notesMaster" Target="/ppt/notesMasters/notesMaster1.xml" Id="R82617d315cdb432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c36ee81f7314da2" /><Relationship Type="http://schemas.openxmlformats.org/officeDocument/2006/relationships/notesMaster" Target="/ppt/notesMasters/notesMaster1.xml" Id="Rffeefd8d2f8e4b8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f153a22671b4227" /><Relationship Type="http://schemas.openxmlformats.org/officeDocument/2006/relationships/notesMaster" Target="/ppt/notesMasters/notesMaster1.xml" Id="Rda3cc57877494c0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b0e3b499b4f407d" /><Relationship Type="http://schemas.openxmlformats.org/officeDocument/2006/relationships/notesMaster" Target="/ppt/notesMasters/notesMaster1.xml" Id="R4e1fba18f36448b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2d8d40e78284ea9" /><Relationship Type="http://schemas.openxmlformats.org/officeDocument/2006/relationships/notesMaster" Target="/ppt/notesMasters/notesMaster1.xml" Id="R78f3523b94834bb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f300550a8864402" /><Relationship Type="http://schemas.openxmlformats.org/officeDocument/2006/relationships/notesMaster" Target="/ppt/notesMasters/notesMaster1.xml" Id="R2ed8a2f13655456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d00971db0aa4a15" /><Relationship Type="http://schemas.openxmlformats.org/officeDocument/2006/relationships/notesMaster" Target="/ppt/notesMasters/notesMaster1.xml" Id="R5bb420e7fa9b43f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e569cdf57ad4d68" /><Relationship Type="http://schemas.openxmlformats.org/officeDocument/2006/relationships/notesMaster" Target="/ppt/notesMasters/notesMaster1.xml" Id="Rb9370f9d306e4be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abf221a6dfc4d68" /><Relationship Type="http://schemas.openxmlformats.org/officeDocument/2006/relationships/notesMaster" Target="/ppt/notesMasters/notesMaster1.xml" Id="R1e2f6dc1b5f74bf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7ca0c2c6ce84bc3" /><Relationship Type="http://schemas.openxmlformats.org/officeDocument/2006/relationships/notesMaster" Target="/ppt/notesMasters/notesMaster1.xml" Id="R4ae513afabfd4bf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add4ecf7ba648e2" /><Relationship Type="http://schemas.openxmlformats.org/officeDocument/2006/relationships/notesMaster" Target="/ppt/notesMasters/notesMaster1.xml" Id="R1bb01343aadf4f9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493dad674f34caa" /><Relationship Type="http://schemas.openxmlformats.org/officeDocument/2006/relationships/notesMaster" Target="/ppt/notesMasters/notesMaster1.xml" Id="R42a74930c05946d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da31759c51a48df" /><Relationship Type="http://schemas.openxmlformats.org/officeDocument/2006/relationships/notesMaster" Target="/ppt/notesMasters/notesMaster1.xml" Id="R90f6f19b34d64fd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ea3ff10153a47a9" /><Relationship Type="http://schemas.openxmlformats.org/officeDocument/2006/relationships/notesMaster" Target="/ppt/notesMasters/notesMaster1.xml" Id="Rdd35086b71b0419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9af24e507364317" /><Relationship Type="http://schemas.openxmlformats.org/officeDocument/2006/relationships/notesMaster" Target="/ppt/notesMasters/notesMaster1.xml" Id="R3096654b6d31410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62543a288164d9c" /><Relationship Type="http://schemas.openxmlformats.org/officeDocument/2006/relationships/notesMaster" Target="/ppt/notesMasters/notesMaster1.xml" Id="Raeb74805a487456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7db64b45d534599" /><Relationship Type="http://schemas.openxmlformats.org/officeDocument/2006/relationships/notesMaster" Target="/ppt/notesMasters/notesMaster1.xml" Id="R891b7219cc68479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414369f8b384e17" /><Relationship Type="http://schemas.openxmlformats.org/officeDocument/2006/relationships/notesMaster" Target="/ppt/notesMasters/notesMaster1.xml" Id="R72e0d5598dce4ed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f18f423ee514478" /><Relationship Type="http://schemas.openxmlformats.org/officeDocument/2006/relationships/notesMaster" Target="/ppt/notesMasters/notesMaster1.xml" Id="Rdc6ee9ed475b44c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d5f82f323b2427d" /><Relationship Type="http://schemas.openxmlformats.org/officeDocument/2006/relationships/notesMaster" Target="/ppt/notesMasters/notesMaster1.xml" Id="R87a925680497434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7e9e8da447b48e6" /><Relationship Type="http://schemas.openxmlformats.org/officeDocument/2006/relationships/notesMaster" Target="/ppt/notesMasters/notesMaster1.xml" Id="Ra7524302b825440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0d38c78004f49dd" /><Relationship Type="http://schemas.openxmlformats.org/officeDocument/2006/relationships/notesMaster" Target="/ppt/notesMasters/notesMaster1.xml" Id="Ra627fbcc65d941e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03e7063e4a243a4" /><Relationship Type="http://schemas.openxmlformats.org/officeDocument/2006/relationships/notesMaster" Target="/ppt/notesMasters/notesMaster1.xml" Id="R7900d2581f654f9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9fcdf785a354cb1" /><Relationship Type="http://schemas.openxmlformats.org/officeDocument/2006/relationships/notesMaster" Target="/ppt/notesMasters/notesMaster1.xml" Id="R2575d4ac1413491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7720d58a89d4c65" /><Relationship Type="http://schemas.openxmlformats.org/officeDocument/2006/relationships/notesMaster" Target="/ppt/notesMasters/notesMaster1.xml" Id="R0ca47d01154d473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ad2dd758d404706" /><Relationship Type="http://schemas.openxmlformats.org/officeDocument/2006/relationships/notesMaster" Target="/ppt/notesMasters/notesMaster1.xml" Id="R2513303fa8b84e9d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7ed699b83fe4e8a" /><Relationship Type="http://schemas.openxmlformats.org/officeDocument/2006/relationships/notesMaster" Target="/ppt/notesMasters/notesMaster1.xml" Id="R31289ffd62a54b30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9fb1d3da3814c4d" /><Relationship Type="http://schemas.openxmlformats.org/officeDocument/2006/relationships/notesMaster" Target="/ppt/notesMasters/notesMaster1.xml" Id="R4ec0176d9b22452b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059e11eb7404d11" /><Relationship Type="http://schemas.openxmlformats.org/officeDocument/2006/relationships/notesMaster" Target="/ppt/notesMasters/notesMaster1.xml" Id="Rddfd5125ab884697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3602efa98dfd4901" /><Relationship Type="http://schemas.openxmlformats.org/officeDocument/2006/relationships/notesMaster" Target="/ppt/notesMasters/notesMaster1.xml" Id="Raa343ee0ce0e4b97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588be074ddf4d1b" /><Relationship Type="http://schemas.openxmlformats.org/officeDocument/2006/relationships/notesMaster" Target="/ppt/notesMasters/notesMaster1.xml" Id="Rdc959ef400c94cf5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288b6b2e5dec4f5c" /><Relationship Type="http://schemas.openxmlformats.org/officeDocument/2006/relationships/notesMaster" Target="/ppt/notesMasters/notesMaster1.xml" Id="R981ca550c2bb4452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49e3232d7d1e46dc" /><Relationship Type="http://schemas.openxmlformats.org/officeDocument/2006/relationships/notesMaster" Target="/ppt/notesMasters/notesMaster1.xml" Id="R660316a254d34cb2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76fe65a0569346fe" /><Relationship Type="http://schemas.openxmlformats.org/officeDocument/2006/relationships/notesMaster" Target="/ppt/notesMasters/notesMaster1.xml" Id="R981a31b9714c44d6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8a0800b3841d412c" /><Relationship Type="http://schemas.openxmlformats.org/officeDocument/2006/relationships/notesMaster" Target="/ppt/notesMasters/notesMaster1.xml" Id="Rc107284fb3b8436b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85da7bd41cb049d8" /><Relationship Type="http://schemas.openxmlformats.org/officeDocument/2006/relationships/notesMaster" Target="/ppt/notesMasters/notesMaster1.xml" Id="R6e83e89ac0ed4216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8c3174f46dad4919" /><Relationship Type="http://schemas.openxmlformats.org/officeDocument/2006/relationships/notesMaster" Target="/ppt/notesMasters/notesMaster1.xml" Id="R2d5eacaec93b4c12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756095be41e24967" /><Relationship Type="http://schemas.openxmlformats.org/officeDocument/2006/relationships/notesMaster" Target="/ppt/notesMasters/notesMaster1.xml" Id="Ra9c7436b9ec843db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8b74eebe42ea4a8f" /><Relationship Type="http://schemas.openxmlformats.org/officeDocument/2006/relationships/notesMaster" Target="/ppt/notesMasters/notesMaster1.xml" Id="R28cf87d8665944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5db82cafae44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aafd23b4744342" /><Relationship Type="http://schemas.openxmlformats.org/officeDocument/2006/relationships/slideLayout" Target="/ppt/slideLayouts/slideLayout1.xml" Id="R977fbaa8abbe43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7fbaa8abbe43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4d91cc96e4ce8" /><Relationship Type="http://schemas.openxmlformats.org/officeDocument/2006/relationships/notesSlide" Target="/ppt/notesSlides/notesSlide1.xml" Id="R922d2822716f4a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898ea592242c4" /><Relationship Type="http://schemas.openxmlformats.org/officeDocument/2006/relationships/notesSlide" Target="/ppt/notesSlides/notesSlide2.xml" Id="Raddc8d02f0e44f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358765c204442" /><Relationship Type="http://schemas.openxmlformats.org/officeDocument/2006/relationships/notesSlide" Target="/ppt/notesSlides/notesSlide3.xml" Id="Rc8cb981e2c6f46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e5762354145e1" /><Relationship Type="http://schemas.openxmlformats.org/officeDocument/2006/relationships/notesSlide" Target="/ppt/notesSlides/notesSlide4.xml" Id="R32294a76e9d640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e0d5c0aa14ab3" /><Relationship Type="http://schemas.openxmlformats.org/officeDocument/2006/relationships/notesSlide" Target="/ppt/notesSlides/notesSlide5.xml" Id="Rfe84632d66df46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dcb64119c402c" /><Relationship Type="http://schemas.openxmlformats.org/officeDocument/2006/relationships/notesSlide" Target="/ppt/notesSlides/notesSlide6.xml" Id="R7e40126c1fa946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68c030fbe4563" /><Relationship Type="http://schemas.openxmlformats.org/officeDocument/2006/relationships/notesSlide" Target="/ppt/notesSlides/notesSlide7.xml" Id="R3653642b9e774c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01d6a1a3b4e85" /><Relationship Type="http://schemas.openxmlformats.org/officeDocument/2006/relationships/notesSlide" Target="/ppt/notesSlides/notesSlide8.xml" Id="Reba6ca3fe0174b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dd5cbbfbf44f1" /><Relationship Type="http://schemas.openxmlformats.org/officeDocument/2006/relationships/notesSlide" Target="/ppt/notesSlides/notesSlide9.xml" Id="R35ce61768e6940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9fcb515d84a0e" /><Relationship Type="http://schemas.openxmlformats.org/officeDocument/2006/relationships/notesSlide" Target="/ppt/notesSlides/notesSlide10.xml" Id="Rb1068891a8c04e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80a08cd1d445a" /><Relationship Type="http://schemas.openxmlformats.org/officeDocument/2006/relationships/notesSlide" Target="/ppt/notesSlides/notesSlide11.xml" Id="R1a2ce958fcf84c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e0030ca684674" /><Relationship Type="http://schemas.openxmlformats.org/officeDocument/2006/relationships/notesSlide" Target="/ppt/notesSlides/notesSlide12.xml" Id="R5dd9280deaa94a8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5a2bdfc354bce" /><Relationship Type="http://schemas.openxmlformats.org/officeDocument/2006/relationships/notesSlide" Target="/ppt/notesSlides/notesSlide13.xml" Id="Ra6fe9896f83f44a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74e5c07104364" /><Relationship Type="http://schemas.openxmlformats.org/officeDocument/2006/relationships/notesSlide" Target="/ppt/notesSlides/notesSlide14.xml" Id="Rfc1b5b6e1ff84e1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ea1d0c1164e2b" /><Relationship Type="http://schemas.openxmlformats.org/officeDocument/2006/relationships/notesSlide" Target="/ppt/notesSlides/notesSlide15.xml" Id="R2bc536b1e6784fc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6151eb9fa491a" /><Relationship Type="http://schemas.openxmlformats.org/officeDocument/2006/relationships/notesSlide" Target="/ppt/notesSlides/notesSlide16.xml" Id="Rcd7a48258c394f3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c783767dc469a" /><Relationship Type="http://schemas.openxmlformats.org/officeDocument/2006/relationships/notesSlide" Target="/ppt/notesSlides/notesSlide17.xml" Id="R862bb4664c0d47a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c7dfcd26c4377" /><Relationship Type="http://schemas.openxmlformats.org/officeDocument/2006/relationships/notesSlide" Target="/ppt/notesSlides/notesSlide18.xml" Id="R35ec9ca06e7e470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f0cf44f804926" /><Relationship Type="http://schemas.openxmlformats.org/officeDocument/2006/relationships/notesSlide" Target="/ppt/notesSlides/notesSlide19.xml" Id="R5abdf6a223814f4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e24da0ae64b57" /><Relationship Type="http://schemas.openxmlformats.org/officeDocument/2006/relationships/notesSlide" Target="/ppt/notesSlides/notesSlide20.xml" Id="R2102fcee8be94b1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e8074de9942aa" /><Relationship Type="http://schemas.openxmlformats.org/officeDocument/2006/relationships/notesSlide" Target="/ppt/notesSlides/notesSlide21.xml" Id="R5d5e9bc7a0d140d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24c0a0f3243d0" /><Relationship Type="http://schemas.openxmlformats.org/officeDocument/2006/relationships/notesSlide" Target="/ppt/notesSlides/notesSlide22.xml" Id="R49cce2c9636f4b9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d35674033b4b2d" /><Relationship Type="http://schemas.openxmlformats.org/officeDocument/2006/relationships/notesSlide" Target="/ppt/notesSlides/notesSlide23.xml" Id="Rae70f8cdfdbf445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e02a6574c44d1" /><Relationship Type="http://schemas.openxmlformats.org/officeDocument/2006/relationships/notesSlide" Target="/ppt/notesSlides/notesSlide24.xml" Id="R7353cab76a39400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2fe5c662643a1" /><Relationship Type="http://schemas.openxmlformats.org/officeDocument/2006/relationships/notesSlide" Target="/ppt/notesSlides/notesSlide25.xml" Id="R11f8627d00e54e8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a4391784e45d1" /><Relationship Type="http://schemas.openxmlformats.org/officeDocument/2006/relationships/notesSlide" Target="/ppt/notesSlides/notesSlide26.xml" Id="R602b71c5cc414cf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64f099987493f" /><Relationship Type="http://schemas.openxmlformats.org/officeDocument/2006/relationships/notesSlide" Target="/ppt/notesSlides/notesSlide27.xml" Id="Rcadff5ce14f64dc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c6d2df2294237" /><Relationship Type="http://schemas.openxmlformats.org/officeDocument/2006/relationships/notesSlide" Target="/ppt/notesSlides/notesSlide28.xml" Id="Re3f35795d82d42d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de9f658c44819" /><Relationship Type="http://schemas.openxmlformats.org/officeDocument/2006/relationships/notesSlide" Target="/ppt/notesSlides/notesSlide29.xml" Id="R653d15d2750a4aa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a502aa2134f61" /><Relationship Type="http://schemas.openxmlformats.org/officeDocument/2006/relationships/notesSlide" Target="/ppt/notesSlides/notesSlide30.xml" Id="R5f9831c79cfd4d8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a086253a94dd0" /><Relationship Type="http://schemas.openxmlformats.org/officeDocument/2006/relationships/notesSlide" Target="/ppt/notesSlides/notesSlide31.xml" Id="R49f446b2b4a045b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593b20a784732" /><Relationship Type="http://schemas.openxmlformats.org/officeDocument/2006/relationships/notesSlide" Target="/ppt/notesSlides/notesSlide32.xml" Id="R2468fd68762f42b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6b119632a4375" /><Relationship Type="http://schemas.openxmlformats.org/officeDocument/2006/relationships/notesSlide" Target="/ppt/notesSlides/notesSlide33.xml" Id="R9b83b97a9720497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9896b37e64269" /><Relationship Type="http://schemas.openxmlformats.org/officeDocument/2006/relationships/notesSlide" Target="/ppt/notesSlides/notesSlide34.xml" Id="R21caabc61a34423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5a2f72ddf4e94" /><Relationship Type="http://schemas.openxmlformats.org/officeDocument/2006/relationships/notesSlide" Target="/ppt/notesSlides/notesSlide35.xml" Id="R1c772c83d150434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69f51eac24e85" /><Relationship Type="http://schemas.openxmlformats.org/officeDocument/2006/relationships/notesSlide" Target="/ppt/notesSlides/notesSlide36.xml" Id="Rfaa2d4bde70a4b0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09567ccc04bc9" /><Relationship Type="http://schemas.openxmlformats.org/officeDocument/2006/relationships/notesSlide" Target="/ppt/notesSlides/notesSlide37.xml" Id="Ra0a4a6e5c1d84ef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385965f1f42b1" /><Relationship Type="http://schemas.openxmlformats.org/officeDocument/2006/relationships/notesSlide" Target="/ppt/notesSlides/notesSlide38.xml" Id="R2001dfd7fa2a4c2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76ec89c8a4425" /><Relationship Type="http://schemas.openxmlformats.org/officeDocument/2006/relationships/notesSlide" Target="/ppt/notesSlides/notesSlide39.xml" Id="R587bae2bf948460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c049e36924d79" /><Relationship Type="http://schemas.openxmlformats.org/officeDocument/2006/relationships/notesSlide" Target="/ppt/notesSlides/notesSlide40.xml" Id="R5291775e58b54eb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0de6a224e40fd" /><Relationship Type="http://schemas.openxmlformats.org/officeDocument/2006/relationships/notesSlide" Target="/ppt/notesSlides/notesSlide41.xml" Id="R6444a32d574441c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f01556a944e64" /><Relationship Type="http://schemas.openxmlformats.org/officeDocument/2006/relationships/notesSlide" Target="/ppt/notesSlides/notesSlide42.xml" Id="Rf491662e881145ac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2a185cdd644ef" /><Relationship Type="http://schemas.openxmlformats.org/officeDocument/2006/relationships/notesSlide" Target="/ppt/notesSlides/notesSlide43.xml" Id="R2e0a390c45aa42bd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171cf586a42fe" /><Relationship Type="http://schemas.openxmlformats.org/officeDocument/2006/relationships/notesSlide" Target="/ppt/notesSlides/notesSlide44.xml" Id="R9904d5b44bb84aa3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8be1b61204926" /><Relationship Type="http://schemas.openxmlformats.org/officeDocument/2006/relationships/notesSlide" Target="/ppt/notesSlides/notesSlide45.xml" Id="R9d898512c82a416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792994a8e49b9" /><Relationship Type="http://schemas.openxmlformats.org/officeDocument/2006/relationships/notesSlide" Target="/ppt/notesSlides/notesSlide46.xml" Id="Rec839777bedb4a9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e86178e6b42c1" /><Relationship Type="http://schemas.openxmlformats.org/officeDocument/2006/relationships/notesSlide" Target="/ppt/notesSlides/notesSlide47.xml" Id="Ra5034d4b94f54664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0b4707470488f" /><Relationship Type="http://schemas.openxmlformats.org/officeDocument/2006/relationships/notesSlide" Target="/ppt/notesSlides/notesSlide48.xml" Id="Rd74a21f0ba534231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82b94570e4e29" /><Relationship Type="http://schemas.openxmlformats.org/officeDocument/2006/relationships/notesSlide" Target="/ppt/notesSlides/notesSlide49.xml" Id="R34c108747339478f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01c5340c74be1" /><Relationship Type="http://schemas.openxmlformats.org/officeDocument/2006/relationships/notesSlide" Target="/ppt/notesSlides/notesSlide50.xml" Id="R5aad9075a1564c37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ce8628a4144d1" /><Relationship Type="http://schemas.openxmlformats.org/officeDocument/2006/relationships/notesSlide" Target="/ppt/notesSlides/notesSlide51.xml" Id="R7a6776cfd85b4cfd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8c4da0d8c49dc" /><Relationship Type="http://schemas.openxmlformats.org/officeDocument/2006/relationships/notesSlide" Target="/ppt/notesSlides/notesSlide52.xml" Id="Rb26167e2c7c6461f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deca4caf74435" /><Relationship Type="http://schemas.openxmlformats.org/officeDocument/2006/relationships/notesSlide" Target="/ppt/notesSlides/notesSlide53.xml" Id="R38ac92a9c4b84bb8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4c7d3b2df4cfb" /><Relationship Type="http://schemas.openxmlformats.org/officeDocument/2006/relationships/notesSlide" Target="/ppt/notesSlides/notesSlide54.xml" Id="R88a060979c1b462d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0b1ef28a14eae" /><Relationship Type="http://schemas.openxmlformats.org/officeDocument/2006/relationships/notesSlide" Target="/ppt/notesSlides/notesSlide55.xml" Id="Rf3ed6fe194cd4b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E3E57C-BDDC-4D3A-A98D-E47B4D32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4530E-8EA7-4B91-BADD-60D8DC15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76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08C1C-9971-4E3B-BA5B-76CC5BE2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895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3750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Routing3D C++ 엔진 API 발표자료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18CC26-7230-401D-9B47-67A9D6F4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7239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코어 아키텍처, C ABI 및 C# Wrapper 설명서</a:t>
            </a:r>
          </a:p>
          <a:p xmlns:a="http://schemas.openxmlformats.org/drawingml/2006/main">
            <a:pPr algn="l">
              <a:defRPr sz="17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작성일: 2026-06-22</a:t>
            </a:r>
          </a:p>
          <a:p xmlns:a="http://schemas.openxmlformats.org/drawingml/2006/main">
            <a:pPr algn="l">
              <a:defRPr sz="17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발표자: AI 자동 배관 설계 개발팀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A36966-319C-4CDF-A314-BD73D95A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24000"/>
            <a:ext cx="2343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BF29BA-AE2B-4C6E-8CD7-EFA46CA2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76450"/>
            <a:ext cx="161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007F"/>
                </a:solidFill>
                <a:latin typeface="Cascadia Mono"/>
                <a:ea typeface="Cascadia Mono"/>
                <a:cs typeface="Cascadia Mono"/>
              </a:defRPr>
            </a:pPr>
            <a:r>
              <a:rPr sz="3600" b="1">
                <a:solidFill>
                  <a:srgbClr val="FF007F"/>
                </a:solidFill>
                <a:latin typeface="Cascadia Mono"/>
                <a:ea typeface="Cascadia Mono"/>
                <a:cs typeface="Cascadia Mono"/>
              </a:rPr>
              <a:t>C++</a:t>
            </a:r>
          </a:p>
          <a:p xmlns:a="http://schemas.openxmlformats.org/drawingml/2006/main">
            <a:pPr algn="ctr">
              <a:defRPr sz="3600" b="1">
                <a:solidFill>
                  <a:srgbClr val="FF007F"/>
                </a:solidFill>
                <a:latin typeface="Cascadia Mono"/>
                <a:ea typeface="Cascadia Mono"/>
                <a:cs typeface="Cascadia Mono"/>
              </a:defRPr>
            </a:pPr>
            <a:r>
              <a:rPr sz="3600" b="1">
                <a:solidFill>
                  <a:srgbClr val="FF007F"/>
                </a:solidFill>
                <a:latin typeface="Cascadia Mono"/>
                <a:ea typeface="Cascadia Mono"/>
                <a:cs typeface="Cascadia Mono"/>
              </a:rPr>
              <a:t>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E6236B-0744-45AE-ADAC-CCC7D784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3436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1/55</a:t>
            </a:r>
          </a:p>
        </p:txBody>
      </p:sp>
    </p:spTree>
    <p:extLst>
      <p:ext uri="{BB962C8B-B14F-4D97-AF65-F5344CB8AC3E}">
        <p14:creationId xmlns:p14="http://schemas.microsoft.com/office/powerpoint/2010/main" val="3784616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06BA2E-BFCE-45C1-B8D8-13D7B215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C04A2-B391-4D11-8DCA-590A966A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C28F9-6A6C-4786-91B8-4002F8F5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2. 최근 업데이트 및 갱신 내용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63F1A1-142F-488E-86D7-CE5B1ABF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2/55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E5EF6-E8CF-4BCE-BFFF-0ADB4B72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B48E5-AB3D-415C-BF58-4B7EE67E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런타임 진단 API 추가 (2026-06-22)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r3d_get_runtime_report() API를 추가하여 빌드 플래그, 활성 씬 수, 실제 라우팅/런타임/추적 옵션 등을 UTF-8 JSON 형태로 즉시 확인 가능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Route Split 진단 보강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Trace JSONL 진단에 effective_options, route_split_plan, route_split_segment 등의 이벤트를 수집하여 분할 경로 검증 강화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Segment A* 및 HPA* 최적화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JPS-3D-lite 직선 확장 및 HPA* Portal-based Macro Guide 탐색 추가</a:t>
            </a:r>
          </a:p>
        </p:txBody>
      </p:sp>
    </p:spTree>
    <p:extLst>
      <p:ext uri="{BB962C8B-B14F-4D97-AF65-F5344CB8AC3E}">
        <p14:creationId xmlns:p14="http://schemas.microsoft.com/office/powerpoint/2010/main" val="8844357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8AB910-3024-4168-8361-466371B7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1C4BC-DE67-4940-ACDE-BA8CE1C0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73C25-50B3-42E2-84C5-C65C6527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3. Routing3D C++ 코어 엔진 개요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88DAF-14FD-42E3-94D9-A51E6A37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3/55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A7F2C-A5CE-4CD1-BCF3-D76A708A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9C393-02A0-414D-90BB-BB50872D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3D 격자 공간 이산화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물리 공간을 정육면체 격자(Cell) 단위로 나누어 표현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모든 수치 단위는 mm를 기본 규격으로 사용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6방향 직교(Orthogonal) 경로 탐색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상/하/좌/우/앞/뒤(6-neighbor) 이동만 허용하는 배관 설계 제약 반영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하이브리드 공간 설계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장애물 및 기배치 배관의 점유 상태를 다중 백엔드 맵에서 처리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C ABI를Facade로 제공하여 C# WPF Viewer 및 Python 등 이종 환경 연동</a:t>
            </a:r>
          </a:p>
        </p:txBody>
      </p:sp>
    </p:spTree>
    <p:extLst>
      <p:ext uri="{BB962C8B-B14F-4D97-AF65-F5344CB8AC3E}">
        <p14:creationId xmlns:p14="http://schemas.microsoft.com/office/powerpoint/2010/main" val="21461285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8CD4F8-FF75-4F11-AE9E-23209F11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C1838-FFDD-4FB2-90A6-835B39AF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C2BA5-72C4-44A1-8DCD-668E836A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4. 소프트웨어 구성도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25A62-9F1D-4E75-80BB-8E46E84F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4/55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9D50E8-AE4A-418F-974B-6F0D3A75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727D4-4EDC-4016-A046-4572C9AC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2076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647E1-F13C-41D1-A43A-BB03ADA8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9542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C ABI</a:t>
            </a:r>
          </a:p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routing3d_capi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BB1A4-29F7-4B36-BE0C-B5CF6B94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2076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CD0CE-8BE0-48B8-BECB-C39389EA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2892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CLI</a:t>
            </a:r>
          </a:p>
          <a:p xmlns:a="http://schemas.openxmlformats.org/drawingml/2006/main">
            <a:pPr algn="ctr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routing3d_cli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2D00FD-AAEB-45BE-B6D6-AE029350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47875"/>
            <a:ext cx="2076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87DF92-A8E8-46D9-8E46-BF87FAEB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6217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SceneDoc</a:t>
            </a:r>
          </a:p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공통 데이터 모델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7FDB5C-EEAA-4F9C-A7A2-0D54795B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81375"/>
            <a:ext cx="2076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C18EE5-4C0B-4B61-A542-2B281F06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9567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SceneIO</a:t>
            </a:r>
          </a:p>
          <a:p xmlns:a="http://schemas.openxmlformats.org/drawingml/2006/main">
            <a:pPr algn="ctr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scene.json v3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E62CB6-1AC2-46A5-AFFB-82B96D60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81125"/>
            <a:ext cx="2076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CFA6DD-AD39-4DEC-AE27-99218B1E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49542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Occupancy 백엔드</a:t>
            </a:r>
          </a:p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Dense / Implicit / Octree / VDB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CD3A6B-50DE-4973-8635-454838A3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14625"/>
            <a:ext cx="2076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AD45CA-5BD1-47D7-AE64-DF26060B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82892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CostModel</a:t>
            </a:r>
          </a:p>
          <a:p xmlns:a="http://schemas.openxmlformats.org/drawingml/2006/main">
            <a:pPr algn="ctr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회전 / 이격 / 랙고도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C533DF-F481-43A4-B226-B91B6C4A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48125"/>
            <a:ext cx="2076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E13D66-24B5-44AF-9495-1A1939E3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16242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알고리즘 계층</a:t>
            </a:r>
          </a:p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Weighted A* / Segment A* / HPA*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F3EC50-7B72-4725-9BDB-54DEE187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14625"/>
            <a:ext cx="2076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BDE57-2CB0-4FFE-B601-6C68E648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2892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Result 계층</a:t>
            </a:r>
          </a:p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AStarResult / R3dResult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2B339F-BC12-4DDB-BF1E-F7CC207E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43075"/>
            <a:ext cx="666750" cy="5810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F0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7FF922-C1EE-4879-AFFF-7D4A8B35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76575"/>
            <a:ext cx="666750" cy="6572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F0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899BFE-2C32-467F-923B-AB335196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09825"/>
            <a:ext cx="733425" cy="-6667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F0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8776CD-8EBE-434E-9F03-66322540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09825"/>
            <a:ext cx="733425" cy="6667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F0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347DCE-AE6B-43F9-A160-DEDC1349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05025"/>
            <a:ext cx="0" cy="6096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F0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31822E-BB31-46E3-ACD1-C3EE25AB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38525"/>
            <a:ext cx="0" cy="6096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F0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6BABC6-2159-45D5-B3A4-BB8B48B0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410075"/>
            <a:ext cx="733425" cy="-13335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F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45595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D4A408-6DC9-418F-99E0-D02752B4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F38F9-757D-460B-A669-AE5DD496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5E1D6E-CBCF-4EF6-9AA1-2B9E63A0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5. 구성 계층 및 책임 범위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2DB114-904F-45E7-84DC-88555427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5/55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3D75D-CEBD-45E8-ADC5-E28A2FFF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54ECC-8E29-40A2-A2A1-605AE161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외부 호출 계층: P/Invoke 브릿지용 routing3d_capi, 데모 및 배치용 routing3d_cli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저장/직렬화 계층: UTF-8 기반 scene.json (버전 3) 직렬화 및 기존 scene.txt 읽기 호환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점유맵 계층: 공간 점유 판단 및 Voxelization (Dense, Implicit, Octree, OpenVDB)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라우팅 알고리즘 계층: 단일 배관 최단 경로, 다중 배관 순차 협상, 옥트리 점프 가이드, HPA* 및 CBS-lite</a:t>
            </a:r>
          </a:p>
        </p:txBody>
      </p:sp>
    </p:spTree>
    <p:extLst>
      <p:ext uri="{BB962C8B-B14F-4D97-AF65-F5344CB8AC3E}">
        <p14:creationId xmlns:p14="http://schemas.microsoft.com/office/powerpoint/2010/main" val="4576122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A00338-4C71-4FC1-9AA5-5D27075C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2B6CB-3ACD-4594-AFFE-786D0828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184AB8-AE95-4578-B72E-083ACA2A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6. 1단계: 격자 설정 및 입력 준비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6E80C-073F-4365-9E2D-DF587F1C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6/55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CD835-EA1E-4F39-8672-D535A51B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89397-52A8-4836-A219-F2ACBBAF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격자 설정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cell_mm: 단일 셀 한 변의 길이 (예: 50.0mm, 25.0mm, 10.0mm 등)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origin: 전체 격자의 공간적 원점 Vec3(x, y, z) (mm 단위)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shape: (nx, ny, nz) 형태의 각 축방향 격자 크기(개수)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장애물(Obstacle) 등록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World 좌표 기준 최소/최대 축 정렬 박스(AABB) 형태로 공간에 입력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점유 백엔드는 AABB와 걸치는 격자 영역을 BLOCKED 처리</a:t>
            </a:r>
          </a:p>
        </p:txBody>
      </p:sp>
    </p:spTree>
    <p:extLst>
      <p:ext uri="{BB962C8B-B14F-4D97-AF65-F5344CB8AC3E}">
        <p14:creationId xmlns:p14="http://schemas.microsoft.com/office/powerpoint/2010/main" val="20974363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6C79CC-7F92-49E9-AA50-DE7ABA21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7381E-960D-4D98-A506-23A8DBE3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67887-60E0-436D-9B69-9367A206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7. 2단계: 점유맵 생성 및 Voxelization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2751D-A477-4EF0-9E98-0F41567E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7/55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BA095-4821-440D-A0F4-11AFACB7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A03A9-9D1E-476E-AA72-43E3F8C3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정적 장애물 Voxelization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입력된 AABB를 격자 스케일로 스냅하여 내부 셀 범위(CellRange) 계산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grid_box_range() 함수를 거쳐 정수 격자 인덱스로 매핑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백엔드 선정 규칙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OpenVDB 빌드가 활성화되어 있다면 대형 격자 시 VdbOccupancy 사용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OpenVDB 비활성 상태에서 전체 셀이 500만 개 초과 시 ImplicitOccupancy 사용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그 외의 일반 영역에서는 고속 처리를 위해 DenseOccupancy 선택</a:t>
            </a:r>
          </a:p>
        </p:txBody>
      </p:sp>
    </p:spTree>
    <p:extLst>
      <p:ext uri="{BB962C8B-B14F-4D97-AF65-F5344CB8AC3E}">
        <p14:creationId xmlns:p14="http://schemas.microsoft.com/office/powerpoint/2010/main" val="21135637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213F81-9AB0-4A5E-8E62-8BED0DFB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D8E80-9672-43FF-92D3-62E246F7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BD974-971E-41F0-B4C6-82D8B8F5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8. 3단계: 단일 배관 라우팅 흐름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4F480-8AF4-4DE0-9AC9-C01267E8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8/55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9369C9-D929-45E6-B49A-EC196B00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B7387-4AAE-4F5A-B415-F8746768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4423A-287C-4815-9EFE-BC869B20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[시작/목표 좌표 입력] -&gt; [Grid Cell 변환] -&gt; [스냅 체크]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                                             |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[역추적 (Path 생성)] &lt;- [목표 도달] &lt;- [A* Priority Queue 탐색]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066323-8E20-4D6A-B72F-D3825B2D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28850"/>
            <a:ext cx="110109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1. 시작/목표 좌표가 점유 영역 내부인지 판단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2. 점유되어 있다면 snap_to_free_cell()을 호출해 주변의 가장 가까운 빈 셀로 자동 스냅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3. Priority Queue 기반 A* 탐색 가동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4. 탐색 성공 시 came 맵을 역방향 추적해 순차적 경로 셀 목록 생성</a:t>
            </a:r>
          </a:p>
        </p:txBody>
      </p:sp>
    </p:spTree>
    <p:extLst>
      <p:ext uri="{BB962C8B-B14F-4D97-AF65-F5344CB8AC3E}">
        <p14:creationId xmlns:p14="http://schemas.microsoft.com/office/powerpoint/2010/main" val="16375167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B76650-8F0F-4067-BBB8-D573A1E0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E8790-F4A0-4E52-872A-914C48EC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83D5C-1149-454A-A80E-13FDBEAA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9. 4단계: 다중 배관 순차 라우팅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24F6B-E141-490C-81B0-B8F00F63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9/55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D4FD5-830A-4EAD-BCD0-297E8A92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36129-366C-454B-9238-3AD406C8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우선순위 정렬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배관 관경(diameter_mm) 크기, 또는 전체 최단/최장 길이에 따라 작업 순서 정렬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작업 점유맵 복사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이전 단계까지 완료된 경로 점유맵 정보를 복사하여 독립적으로 탐색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배관 점유 마킹 및 Dilation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각 배관 경로 탐색 성공 시 해당 경로를 mark_pipe() 처리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관경 크기에 맞추어 Manhattan 6방향 반경만큼 점유를 부풀려 마킹</a:t>
            </a:r>
          </a:p>
        </p:txBody>
      </p:sp>
    </p:spTree>
    <p:extLst>
      <p:ext uri="{BB962C8B-B14F-4D97-AF65-F5344CB8AC3E}">
        <p14:creationId xmlns:p14="http://schemas.microsoft.com/office/powerpoint/2010/main" val="8864187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7A4C42-A4A4-45CB-94C2-2BCDED09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1AEBC-3AD1-4DB2-8289-094D75B1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57FAD-AB57-4D2E-B07E-03CFF30D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10. 5단계: 후처리 및 개선 라우팅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E11BF-F0EB-461F-983E-AA95892E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10/55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30593-BB8C-437F-8EEE-40B1D75C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38FBE-53D0-4519-A9E0-C80804E0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경로 꺾임 제거 (Unkink)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A* 가중치 및 조명 등으로 인해 미세하게 우회하는 직교 꺾임 구간을 같은 길이 내에서 최단 직선으로 펴주는 후처리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최소 직선 길이 보장 (Min Straight)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배관 시공 시 필요한 피팅 엘보 부속품 마진 확보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min_straight_cells 혹은 r3d_set_min_straight_mm()에 설정된 거리만큼 코너 전환 전후의 최소 직선을 확보</a:t>
            </a:r>
          </a:p>
        </p:txBody>
      </p:sp>
    </p:spTree>
    <p:extLst>
      <p:ext uri="{BB962C8B-B14F-4D97-AF65-F5344CB8AC3E}">
        <p14:creationId xmlns:p14="http://schemas.microsoft.com/office/powerpoint/2010/main" val="13741209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0D7840-6037-4253-AD88-6DCDD986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95B4B-2DB0-4A0F-9AA4-F62E47AE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4DE60-D94F-411A-80C1-2A76E295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11. 기본 기하 데이터 모델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6C598-2EC7-4317-856C-23DD0C0A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11/55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27677-034B-4385-85C3-4A3C82E3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61440-3EA4-42FC-8918-083E48BC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Cell (격자 좌표): int32_t i, j, k 구조로 3D 정수 인덱스 표현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Vec3 (물리 좌표): double x, y, z 구조로 실제 공간 상의 mm 위치 표현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AABB (축 정렬 박스): Vec3 lo, hi 구조로 장애물의 크기 영역 정의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9D34F2-C60B-49BB-A2FB-8FE88919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1010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D38861-39EB-4912-856E-264016A6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struct Cell { int i, j, k; };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struct Vec3 { double x, y, z; };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struct AABB { Vec3 lo, hi; };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FA8E28-D6BA-43C6-A87C-31F0F12E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813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모든 격자 변환은 floor 기반의 일관된 기하 공식을 따름</a:t>
            </a:r>
          </a:p>
        </p:txBody>
      </p:sp>
    </p:spTree>
    <p:extLst>
      <p:ext uri="{BB962C8B-B14F-4D97-AF65-F5344CB8AC3E}">
        <p14:creationId xmlns:p14="http://schemas.microsoft.com/office/powerpoint/2010/main" val="9094880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3E531B-EEA3-48D3-97FD-104FB403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2FF73-3383-4C31-8508-324DD38E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20BB6-0489-45C8-9EEA-CE40A33D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12. World 좌표 ↔ Grid Cell 좌표 변환 공식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E7364-5792-45B9-BC27-052F19F9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12/55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0E7E03-5D9C-4B15-A375-5634762E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E13A9-10EF-4983-92B6-E956D847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World to Cell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i = \lfloor \frac{x - origin.x}{cell_mm} \rfloor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j = \lfloor \frac{y - origin.y}{cell_mm} \rfloor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k = \lfloor \frac{z - origin.z}{cell_mm} \rfloor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Cell to World (셀 중심 좌표)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x = origin.x + (i + 0.5) \times cell_mm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y = origin.y + (j + 0.5) \times cell_mm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z = origin.z + (k + 0.5) \times cell_mm</a:t>
            </a:r>
          </a:p>
        </p:txBody>
      </p:sp>
    </p:spTree>
    <p:extLst>
      <p:ext uri="{BB962C8B-B14F-4D97-AF65-F5344CB8AC3E}">
        <p14:creationId xmlns:p14="http://schemas.microsoft.com/office/powerpoint/2010/main" val="18241958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1F5998-A64B-406A-A578-D01E77B5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AF474-65D4-43D1-ADFB-21C271EE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C3CE65-8CBF-4169-A0B1-277A2A0F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13. RouteTask 데이터 모델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7979E-FD6F-4E8F-A487-62E7E541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13/55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74742-353C-44FC-8933-9585BD70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5BB9E-AA46-4CBD-A717-7DB9786B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배관의 논리적 작업 정의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705E0-14EC-4FE6-A3E9-DA84CD41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66900"/>
            <a:ext cx="110109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3FBB1-71DD-425B-8C70-F2545688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680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struct RouteTask {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Vec3 start_mm;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Vec3 end_mm;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std::string utility;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std::string utility_group;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double diameter_mm;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int32_t goal_dir; // -1: 제약없음, 0~5: NEIGHBORS_6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};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E2AD20-CFAE-4E59-956A-12D1C3AC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43350"/>
            <a:ext cx="11010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goal_dir: 도착점에 진입할 때의 방향 강제 설정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diameter_mm: 간격 확보 및 우선순위 정렬 시 주요 인자로 활용</a:t>
            </a:r>
          </a:p>
        </p:txBody>
      </p:sp>
    </p:spTree>
    <p:extLst>
      <p:ext uri="{BB962C8B-B14F-4D97-AF65-F5344CB8AC3E}">
        <p14:creationId xmlns:p14="http://schemas.microsoft.com/office/powerpoint/2010/main" val="20898911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638B81-851D-49E1-94A4-CF85E1DE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A3AB6-C6B9-493E-83C0-0F134B83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9CD0F-2D62-4704-AFDA-6CCF2DD2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14. RouteParams 비용 파라미터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AF64E-3931-4C72-8F10-6AFCD235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14/55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CCF8E-91B0-4B96-95AA-443EB8E9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E54B2-C3DE-449E-BAD3-8171C672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w_turn: 회전 시 발생하는 비용 가중치 (기본값: 500.0)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w_clear: 장애물 인근 통과 시 거리 기반 패널티 (기본값: 10.0)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w_heur: Weighted A*의 휴리스틱 승수 (기본값: 1.0)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w_corridor: 선호 가이드 영역 외곽 통과 시 패널티 (기본값: 0.0)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clearance_radius: 이격 분석 시 최대 탐색 반경 (기본값: 2)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clearance_connectivity: Clearance BFS 범위 (6-neighbor 또는 26-neighbor)</a:t>
            </a:r>
          </a:p>
        </p:txBody>
      </p:sp>
    </p:spTree>
    <p:extLst>
      <p:ext uri="{BB962C8B-B14F-4D97-AF65-F5344CB8AC3E}">
        <p14:creationId xmlns:p14="http://schemas.microsoft.com/office/powerpoint/2010/main" val="1492288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CD8F90-7A6D-4354-8739-3148D3AB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33334-B38E-4FD4-AFD6-E07FB8F4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F1E6A-358B-4FBD-AD2C-E80C3FB6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15. 결과 반환 모델 (AStarResult)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4E0F5-4BF3-4851-BF9D-2FE7C988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15/55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6BD9A-B8A8-45DD-A391-A46932F5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31E93-0F12-4191-9325-6995E89D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777E0-4693-420D-A75E-F9BF0357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106680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struct AStarResult {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bool success;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std::vector&lt;Cell&gt; path;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double length_mm;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double cost_mm;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int32_t turns;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int64_t expanded_nodes;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double elapsed_ms;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RouteFail fail;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};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AE8A8-B7C8-4BB7-8031-D1083C92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RouteFail 실패 사유 정의 코드: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- 0=None, 1=StartBlocked, 2=GoalBlocked, 3=CorridorMiss, 4=ExpansionLimit, 5=GoalDirBlocked, 6=NoPath</a:t>
            </a:r>
          </a:p>
        </p:txBody>
      </p:sp>
    </p:spTree>
    <p:extLst>
      <p:ext uri="{BB962C8B-B14F-4D97-AF65-F5344CB8AC3E}">
        <p14:creationId xmlns:p14="http://schemas.microsoft.com/office/powerpoint/2010/main" val="14500713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7688C8-5319-4792-A1CA-A94BCAE0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34976-81C5-4E88-845A-08FB14B7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42BCC0-55E5-4C7A-8B51-90C280CF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16. DenseOccupancy 백엔드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F474F-E4F1-42D5-8A13-A13AAEE9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16/55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BD4FD-56E1-479D-8B11-633F3879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47960-B948-44E4-9D8B-03327739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메모리 저장 구조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전체 격자 공간 크기(nx * ny * nz)에 맞춰 1바이트 크기의 uint8_t 선형 벡터 구성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lin = i + nx * (j + ny * k) 규칙의 인덱싱 사용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장점: 메모리 주소 연속성으로 인해 가장 빠른 셀 점유 조회 속도 보장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단점: 격자 공간이 커지면(예: 수억 개 셀) 메모리 사용량이 급증하여 적합하지 않음</a:t>
            </a:r>
          </a:p>
        </p:txBody>
      </p:sp>
    </p:spTree>
    <p:extLst>
      <p:ext uri="{BB962C8B-B14F-4D97-AF65-F5344CB8AC3E}">
        <p14:creationId xmlns:p14="http://schemas.microsoft.com/office/powerpoint/2010/main" val="38038790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E5C653-82E4-4D2E-96F9-E1BAC657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D2F54-C2B9-47A3-BB51-E5A08E92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0E09A-3F03-4715-A79B-E6A00EE8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17. SparseOccupancy 백엔드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323E7-F992-4D37-BA59-78F41D19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17/55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1B944-F014-45C4-B947-A744A95E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41320-9E62-4B50-81A7-D5470F83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메모리 저장 구조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점유된 셀 좌표만을 std::unordered_set&lt;uint64_t&gt; 형태의 해시셋으로 보관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64비트 좌표 패킹 (Packing) 공식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각 i, j, k 정수 축 좌표를 21비트씩 시프트 연산하여 64비트 정수 하나로 병합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\text{key} = (i \ \&amp; \ 0x1FFFFF) \ | \ ((j \ \&amp; \ 0x1FFFFF) \ll 21) \ | \ ((k \ \&amp; \ 0x1FFFFF) \ll 42)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특징: 장애물 주변의 점유 셀이 극소수일 때 메모리를 절약할 수 있으나, 탐색 루프에서 오버헤드 존재</a:t>
            </a:r>
          </a:p>
        </p:txBody>
      </p:sp>
    </p:spTree>
    <p:extLst>
      <p:ext uri="{BB962C8B-B14F-4D97-AF65-F5344CB8AC3E}">
        <p14:creationId xmlns:p14="http://schemas.microsoft.com/office/powerpoint/2010/main" val="10405176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77D268-2070-4BE8-8326-1C5404CD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AFFD9-DD13-4F2A-A557-81756173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9FF6C-2AC8-463E-AB59-A3A6CAC3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18. ImplicitOccupancy 백엔드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9D29E-DE66-406B-BB54-8D9943D3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18/55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1C9F79-8E55-4FBE-B1F9-47C0DDEE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C6C4C-7D60-4352-96B8-A6204BDC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동작 원리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정적 장애물 AABB 리스트를 복셀 격자화(Voxelization)하지 않고 그대로 유지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라우팅으로 마킹되는 동적 배관 정보만 해시셋(marked_)에 보관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질의 수행 방식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특정 셀 Cell(i, j, k) 조회 시, SpatialBoxIndex 트리에서 해당 영역과 교차하는 장애물 AABB가 있는지 검사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특징: 수억 격자 이상의 대형 공간에서 공간 데이터 실체화 없이 장애물 정보를 조회하여 메모리 오버헤드가 극소화됨</a:t>
            </a:r>
          </a:p>
        </p:txBody>
      </p:sp>
    </p:spTree>
    <p:extLst>
      <p:ext uri="{BB962C8B-B14F-4D97-AF65-F5344CB8AC3E}">
        <p14:creationId xmlns:p14="http://schemas.microsoft.com/office/powerpoint/2010/main" val="241380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EE5898-43B7-438D-BED4-8A3AE580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F8379-B280-4AB7-ADE1-52E13EF3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0E065-12C7-4885-A4E3-6257F1BC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19. SpatialBoxIndex 구현 사양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8A5BE-6B2B-4943-83C8-007A0CC3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19/55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B2297-CE36-470A-AB90-D243C670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B29012-6677-496C-B9E5-024E1A83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구조 설계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월드 좌표 공간을 일정 주기의 버킷(bucket_mm 단위) 유니폼 격자로 분할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각 버킷 버퍼에 해당 공간을 걸치고 있는 장애물 AABB 목록 인덱스를 보관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주요 함수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overlaps(qlo, qhi): 입력 쿼리 범위와 장애물이 만나는지 실시간 판정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nearest_dist(p, max_dist): 포인트 p로부터 가장 근접한 장애물 표면까지의 거리 계산 ( clearance 계산에 사용)</a:t>
            </a:r>
          </a:p>
        </p:txBody>
      </p:sp>
    </p:spTree>
    <p:extLst>
      <p:ext uri="{BB962C8B-B14F-4D97-AF65-F5344CB8AC3E}">
        <p14:creationId xmlns:p14="http://schemas.microsoft.com/office/powerpoint/2010/main" val="94947943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A3600D-C51A-4309-8719-7235F34E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63AF3-F597-40EE-84D2-1D9B1952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0B7EE-DBAB-4501-8E53-DA12DF16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20. VdbOccupancy 백엔드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B90C1-2D76-4506-9C0F-F4BB1E0F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20/55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445C5-ABD1-4CF9-B076-D971208F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28613A-1905-42D3-9C39-2715444F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동작 원리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OpenVDB 라이브러리의 BoolGrid 구조를 내부에 캡슐화 (Pimpl 디자인 패턴)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빈 공간을 계층 트리 노드로 축소 보관하여 물리 디스크/메모리 캐싱 최적화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복셀 마킹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fill() 연산을 활용해 완전 점유된 거대 솔리드 장애물 영역을 타일 형태로 압축 저장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장점: 대규모 공장 씬의 바닥 슬래브, 기둥 구조물 처리 시 우수한 메모리 밀도 제공</a:t>
            </a:r>
          </a:p>
        </p:txBody>
      </p:sp>
    </p:spTree>
    <p:extLst>
      <p:ext uri="{BB962C8B-B14F-4D97-AF65-F5344CB8AC3E}">
        <p14:creationId xmlns:p14="http://schemas.microsoft.com/office/powerpoint/2010/main" val="26258263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F03BFE-4CF6-4CA9-B599-DD9F2F47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B86DD-E977-481D-BAC5-F9F7DD81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6ECA0-941D-41CA-8F87-74B99E50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21. OctreeOccupancy 개념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9E605-713A-4A92-9936-1F6A037C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21/55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D6EC9-A2B4-4CCE-829D-EBE4BDDC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83F58-0C6D-4E81-AE62-18BB4FE4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어댑티브 복셀 분할 (Adaptive Voxel Split)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완전 빈 공간은 큰 옥트리 잎(Leaf) 노드로 압축 유지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장애물 표면이나 충돌 경계면만 촘촘히 8분할하여 Fine Cell 크기까지 재귀 세분화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동적 마킹의 이원화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실시간 경로 마킹은 옥트리 트리를 재구성하지 않고 별도의 marked_ 해시셋에 반영</a:t>
            </a:r>
          </a:p>
        </p:txBody>
      </p:sp>
    </p:spTree>
    <p:extLst>
      <p:ext uri="{BB962C8B-B14F-4D97-AF65-F5344CB8AC3E}">
        <p14:creationId xmlns:p14="http://schemas.microsoft.com/office/powerpoint/2010/main" val="104807246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50C19A-EE3D-430F-B8A0-D1099C75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E0C82-60BC-406C-912D-B2173FF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266E9-8FC0-49FF-987F-A69B8639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22. OctreeOccupancy 데이터 구조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3D494-AACD-486B-8402-2BF5038E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22/55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9D0D94-2C8F-4935-846A-4016F98C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71AED-CA8D-4064-A0BA-960097C7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노드 구성 (OctNode)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8D9F7A-F3DA-4791-85BD-F0E2FF93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66900"/>
            <a:ext cx="110109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EA3869-7C7C-4B4A-AAD5-7617B67E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struct OctNode {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int32_t x0, y0, z0; // 잎의 시작 Fine-cell 좌표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int32_t side;       // 잎 한 변에 들어가는 Fine-cell 개수 (2^n)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int8_t state;       // -1=MIXED, 0=FREE, 1=BLOCKED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int32_t children[8];// 자식 노드 인덱스 (-1이면 Leaf)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int32_t parent;     // 부모 노드 인덱스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};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1D388-B085-4F24-9C72-D15F6D5F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max_jump(): 특정 축방향으로 충돌 장애물을 만나기 직전까지 이동 가능한 최대 격자 단위 도약 길이 계산</a:t>
            </a:r>
          </a:p>
        </p:txBody>
      </p:sp>
    </p:spTree>
    <p:extLst>
      <p:ext uri="{BB962C8B-B14F-4D97-AF65-F5344CB8AC3E}">
        <p14:creationId xmlns:p14="http://schemas.microsoft.com/office/powerpoint/2010/main" val="57119184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D6A0D1-79F0-46DB-A7A2-F4A5B31D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3CCB0-3B1A-4AEB-89DB-6F7A9CF9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95F32-64CD-4D3E-98CB-DDC7113C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23. AABB Voxelization 변환 알고리즘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AB97D-9C9D-4851-9B58-1617F535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23/55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EB0E6-945A-4305-9D24-CED064FE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1BDF5-89C5-46D7-AA70-2D82178B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기하학적 투영 규칙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실수 영역의 AABB 범위를 격자 범위 [lo, hi] 정수로 포함 변환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C371C-688B-4D9C-9EA5-D181763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110109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F252DA-8607-471C-8B8B-F5B2AE09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066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Cell lo = grid_world_to_cell(box.min_xyz, origin, cell_mm);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Cell hi = grid_world_to_cell(box.max_xyz, origin, cell_mm);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// 경계 포함 보정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CellRange range;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range.lo = lo;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range.hi = Cell{hi.i + 1, hi.j + 1, hi.k + 1};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42B37-F867-47D5-B9C5-B88A41B2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62350"/>
            <a:ext cx="11010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Clamp 처리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격자 바깥 영역으로 산출된 범위는 [0, shape) 내부 영역으로 한계 조정</a:t>
            </a:r>
          </a:p>
        </p:txBody>
      </p:sp>
    </p:spTree>
    <p:extLst>
      <p:ext uri="{BB962C8B-B14F-4D97-AF65-F5344CB8AC3E}">
        <p14:creationId xmlns:p14="http://schemas.microsoft.com/office/powerpoint/2010/main" val="47539891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FE4FEC-9ABE-4748-8151-8F1C5181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C3CD9-5A06-457A-B852-7B1991E4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548EE-E621-4F36-BEFA-B763F4CE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24. A* 및 Weighted A* 알고리즘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10CBAB-C791-45D7-B1FB-8A9F603D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24/55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C135E-4D54-4499-9E02-03805D02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FFBCE2-1BE1-49B9-BA0F-E5E22288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A* 비용 모델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f(n) = g(n) + h(n)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$g(n)$: 시작 노드로부터의 누적 경로 비용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$h(n)$: 목표 지점까지의 맨해튼 거리 기반 휴리스틱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Weighted A* 확장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f(n) = g(n) + w_heur \times h(n)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$w_heur &gt; 1.0$ 가중치를 적용하여, 약간의 차선 경로를 허용하는 대신 상태 노드 탐색량을 극적으로 감소시킴</a:t>
            </a:r>
          </a:p>
        </p:txBody>
      </p:sp>
    </p:spTree>
    <p:extLst>
      <p:ext uri="{BB962C8B-B14F-4D97-AF65-F5344CB8AC3E}">
        <p14:creationId xmlns:p14="http://schemas.microsoft.com/office/powerpoint/2010/main" val="32917333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5391C2-6740-4CDA-86D9-976F1281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85EB7-CFDA-4E14-A5BC-BCFE52D4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035D0-84CF-4DFA-AF3A-C151F5DC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25. Weighted A* 탐색 비용 계산식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7D4CE-C4CE-495F-BFFF-3EFCE572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25/55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FD98A-07A3-44F5-869D-0216BD75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8C878-50E9-460B-8C8A-1FBBE793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이동 단계를 거칠 때 비용 누적 규칙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9DCFD0-832D-4B61-8657-6887140B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66900"/>
            <a:ext cx="110109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2B2478-3DE6-4F0A-AB99-4323AA7D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6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next_g = current_g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   + cell_mm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   + (direction_changed ? w_turn : 0)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   + (clearance_cost * w_clear)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   + (tier_cost * w_tier)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   + (corridor_cost * w_corridor)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3E1B6-915D-4EF3-B8BF-05DE1910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w_heur_near: 목표점 반경 내에 도달하는 경우 가중치를 점진적으로 낮추어($\approx 1.0$) 도착 직전 코너 꺾임 품질을 정밀하게 복원</a:t>
            </a:r>
          </a:p>
        </p:txBody>
      </p:sp>
    </p:spTree>
    <p:extLst>
      <p:ext uri="{BB962C8B-B14F-4D97-AF65-F5344CB8AC3E}">
        <p14:creationId xmlns:p14="http://schemas.microsoft.com/office/powerpoint/2010/main" val="10958926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40A534-BEF9-46B5-8D59-C78DA828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9CB82C-06BE-4EB9-A699-0F6A71F1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BC1CB-3629-4E55-B5D8-B30FCFE1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26. Anytime A* 개선 루프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D69C8-6CFB-42B6-AC27-D864DAFE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26/55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BDDAE-D747-46D6-845A-8B02ADEE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6EA20-AD5E-4D68-B33F-0552EFA9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ARA* 단순화 모델 기법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고정된 시간 내에서 Incumbent(현재까지의 최선의 성공 경로)를 개선하는 래퍼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59E44-501F-4943-A973-AC31E0F5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110109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23DEAA-1CEE-4872-B782-10B2185C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066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[시작: 가중치 3.0] -&gt; [1차 탐색: Incumbent 등록]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                       |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[가중치 2.0으로 탐색] &lt;- [INCUMBENT 비교: 비용 단축 여부 검증]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                       |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[종료: 시간 Budget 도달] -&gt; [incumbent 반환]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CB66E-99CE-45A6-BAC0-A2A1A673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52800"/>
            <a:ext cx="110109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1. 최초에는 큰 가중치(예: 3.0)로 빠른 경로 탐색 성공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2. 가중치 스텝(예: 0.5)을 깎아가며 반복 탐색 시도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3. 신규 경로 비용이 기존 최선 해보다 적으면 대체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4. 시간 제한(time_budget_ms) 경과 시 즉시 탐색 중단 및 incumbent 반환</a:t>
            </a:r>
          </a:p>
        </p:txBody>
      </p:sp>
    </p:spTree>
    <p:extLst>
      <p:ext uri="{BB962C8B-B14F-4D97-AF65-F5344CB8AC3E}">
        <p14:creationId xmlns:p14="http://schemas.microsoft.com/office/powerpoint/2010/main" val="107897642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53C49F-EBBF-494C-8F1D-F8833311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F0467-0CC5-4D8B-9BC8-29B8AB7E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C5422-BFFB-47E6-BABC-24E74C24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27. Segment A* / JPS-3D-lite 개요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67430-4406-4451-99DD-C81F8E8F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27/55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E0923-8462-4C53-8453-53F116B0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CC71A-EAB4-4BD5-B761-634E6C37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인접 1셀 확장 방식의 문제점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대형 직선 랙(Rack) 통로에서 수천 개의 노드가 중복 생성되어 큐 부하 가중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Segment A* 도약 기법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- 6방향 수직/수평 라인을 따라 한 번에 전진 가능한 직선 단위로 큐에 확장 등록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갱신된 JPS-3D-lite 모드는 강제 이웃 장애물 모서리(Forced-neighbor), 목표 투영 축 교차점, 최대 직선 길이(segment_max_cells) 지점만 압축 추출하여 큐 연산을 최적화</a:t>
            </a:r>
          </a:p>
        </p:txBody>
      </p:sp>
    </p:spTree>
    <p:extLst>
      <p:ext uri="{BB962C8B-B14F-4D97-AF65-F5344CB8AC3E}">
        <p14:creationId xmlns:p14="http://schemas.microsoft.com/office/powerpoint/2010/main" val="109316276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8949C7-3E54-4856-B8F8-78045021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8BF127-71BE-4EA1-89C2-17E9EE44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C047E-359A-438B-8EEE-8B7058F0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28. JPS-3D-lite 탐색점 검출 규칙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49C40-D303-40C6-B9B5-80D72635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28/55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79FDA-A468-46DF-9F68-4D24EEB1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20643-FE82-405D-866C-2E3C94DD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C6CA22-327F-4141-9D3B-C2FD6D16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[장애물 모서리 발견 (Forced Neighbor)] -------&gt; [Jump Point 등록]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[현재 Ray 상에 목표 축(X, Y, Z) 교차] ------&gt; [Jump Point 등록]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[장애물 충돌 직전 (Ray End)] ---------------&gt; [Jump Point 등록]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A0EA3-8E82-4351-AC10-C4EC69F3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288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직선으로 진행하는 도중 측면 셀 장벽이 깨지거나 새로 생기는 모퉁이 점을 탐색 점프 지점으로 정의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최종 복원 시에는 중간 경로 노드들을 Fine Cell 연속 경로로 조밀화(densify())하여 반환하므로 일반 path 출력과 완벽히 호환됨</a:t>
            </a:r>
          </a:p>
        </p:txBody>
      </p:sp>
    </p:spTree>
    <p:extLst>
      <p:ext uri="{BB962C8B-B14F-4D97-AF65-F5344CB8AC3E}">
        <p14:creationId xmlns:p14="http://schemas.microsoft.com/office/powerpoint/2010/main" val="201740824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89FE80-3401-4940-BEAB-83314D60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CAE90-0132-49C5-BE72-1636F9A8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CF1DC-AC83-4B53-854E-45261419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29. Clearance 및 이격도 계산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670D7-801C-4950-A0DA-D7DF1621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29/55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ED474-1873-49DD-9813-4E816A97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97B74-86D8-4B86-A69C-56BF84DA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Dense / Sparse 방식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전체 장애물 격자에서 시작해 빈 공간으로 거리를 팽창시키는 Bounded Multi-source BFS를 미리 기동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Implicit / VDB 방식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탐색 진행 중 셀이 큐에서 전개될 때, SpatialBoxIndex를 사용해 최근접 장애물 표면까지의 Euclidean 거리를 실시간으로 질의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\text{Clearance Cost} = \max(0.0, \text{radius} - \text{actual_distance})</a:t>
            </a:r>
          </a:p>
        </p:txBody>
      </p:sp>
    </p:spTree>
    <p:extLst>
      <p:ext uri="{BB962C8B-B14F-4D97-AF65-F5344CB8AC3E}">
        <p14:creationId xmlns:p14="http://schemas.microsoft.com/office/powerpoint/2010/main" val="110205540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01E32A-07DA-474B-AFF2-6FF879A9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46DB3B-FAB6-47C4-9E8F-3B436201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9B0EBE-2B40-41FA-BADE-9427565D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30. 배관 점유 마킹 (mark_pipe)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036B8-D5BF-4640-A03A-BB7FB2F2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30/55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79550-46C8-463E-8D4B-1D2468DC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B0E255-C396-44C2-BA56-1E32B3D4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배관 간섭 회피 메커니즘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배관이 성공적으로 라우팅되면, 해당 배관의 좌표들을 점유 맵에 BLOCKED로 마킹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관경 간격(Dilation) 확보 알고리즘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FB6CB-1807-4188-9224-B022CBD3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1010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41FC11-6EF4-458D-978B-E9FCE847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[성공 경로 셀 선택] -&gt; [Manhattan BFS 팽창 적용] -&gt; [인접 셀 마킹]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504CFF-09B0-48DF-ABC6-DF8205BA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11010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- radius 크기에 맞춰서 6방향 인접 이웃 셀 영역으로 순차 팽창 탐색을 수행하여 추가 복셀을 마킹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다음 배관 탐색 시 이미 팽창 마킹된 복셀을 자연스럽게 우회하도록 유도</a:t>
            </a:r>
          </a:p>
        </p:txBody>
      </p:sp>
    </p:spTree>
    <p:extLst>
      <p:ext uri="{BB962C8B-B14F-4D97-AF65-F5344CB8AC3E}">
        <p14:creationId xmlns:p14="http://schemas.microsoft.com/office/powerpoint/2010/main" val="45226349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EF0D8E-D6F3-40BC-9A41-C67716DA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FCA50-D590-4007-94E4-1F3F2020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09A94A-DAB3-409E-B18D-3A89EF19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31. Rip-up &amp; Reroute 재배치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04C5B3-EB0F-45EA-9257-B6AACBAB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31/55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BFC77-C372-4308-8A9E-E8325FF1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98668-E640-47AD-9688-EB8D5E55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배관 차단 병목 현상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선순위 배관들이 공간을 독점하여 후순위 배관의 경로가 차단되는 문제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Rip-up 처리 파이프라인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1. 실패한 배관 작업 발견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2. 기배치된 배관을 무시하고 장애물만 있는 상태에서 최단 경로(Ideal Path) 탐색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3. Ideal Path를 가로막고 있는 기배치 배관 목록(Blockers) 식별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4. Blocker 개수가 제한값(max_ripup) 이하이면, Blocker를 임시 제거하고 실패 배관을 먼저 배치한 뒤 Blocker들을 재배치 수행</a:t>
            </a:r>
          </a:p>
        </p:txBody>
      </p:sp>
    </p:spTree>
    <p:extLst>
      <p:ext uri="{BB962C8B-B14F-4D97-AF65-F5344CB8AC3E}">
        <p14:creationId xmlns:p14="http://schemas.microsoft.com/office/powerpoint/2010/main" val="159183821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0753AF-9C39-499A-AAB7-89D3BD1C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AC532-89E0-4DAD-B34D-3FCFFDAE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7F25F-3E6C-4C66-BD53-8C84ACE4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32. 대형 공간 처리를 위한 10대 최적화 전략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93236-AC5C-4471-AEBB-0DBDC79F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32/55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38B3C-31B2-4F57-91D2-225D2D67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CF0E1-0423-4BA3-A0D6-4EE12FFB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E495C-A724-4070-8072-584E7A0D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106680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defRPr>
            </a:pPr>
            <a:r>
              <a:rPr sz="788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rPr>
              <a:t>| 번호 | 전략 명칭 | 핵심 동작 및 물리 구조 |</a:t>
            </a:r>
          </a:p>
          <a:p xmlns:a="http://schemas.openxmlformats.org/drawingml/2006/main">
            <a:pPr algn="l">
              <a:defRPr sz="788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defRPr>
            </a:pPr>
            <a:r>
              <a:rPr sz="788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rPr>
              <a:t>|---|---|---|</a:t>
            </a:r>
          </a:p>
          <a:p xmlns:a="http://schemas.openxmlformats.org/drawingml/2006/main">
            <a:pPr algn="l">
              <a:defRPr sz="788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defRPr>
            </a:pPr>
            <a:r>
              <a:rPr sz="788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rPr>
              <a:t>| 1 | OpenVDB | 복셀 볼륨을 계층 구조의 타일로 압축하여 대형 구조물 메모리 경감 |</a:t>
            </a:r>
          </a:p>
          <a:p xmlns:a="http://schemas.openxmlformats.org/drawingml/2006/main">
            <a:pPr algn="l">
              <a:defRPr sz="788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defRPr>
            </a:pPr>
            <a:r>
              <a:rPr sz="788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rPr>
              <a:t>| 2 | Implicit Occupancy | 장애물을 복셀화하지 않고 Spatial AABB Index로 온디맨드 질의 |</a:t>
            </a:r>
          </a:p>
          <a:p xmlns:a="http://schemas.openxmlformats.org/drawingml/2006/main">
            <a:pPr algn="l">
              <a:defRPr sz="788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defRPr>
            </a:pPr>
            <a:r>
              <a:rPr sz="788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rPr>
              <a:t>| 3 | Octree Occupancy | 빈 공간을 큰 잎으로 묶고 경계면만 분할해 도약 연산에 활용 |</a:t>
            </a:r>
          </a:p>
          <a:p xmlns:a="http://schemas.openxmlformats.org/drawingml/2006/main">
            <a:pPr algn="l">
              <a:defRPr sz="788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defRPr>
            </a:pPr>
            <a:r>
              <a:rPr sz="788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rPr>
              <a:t>| 4 | Segment A* | JPS-3D-lite 기반의 직선 단위 도약 확장으로 탐색 수 극축 |</a:t>
            </a:r>
          </a:p>
          <a:p xmlns:a="http://schemas.openxmlformats.org/drawingml/2006/main">
            <a:pPr algn="l">
              <a:defRPr sz="788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defRPr>
            </a:pPr>
            <a:r>
              <a:rPr sz="788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rPr>
              <a:t>| 5 | Octree-guided Fallback | 옥트리 탐색 경로를 가이드 삼아 Fine 격자 탐색을 국소 범위로 제한 |</a:t>
            </a:r>
          </a:p>
          <a:p xmlns:a="http://schemas.openxmlformats.org/drawingml/2006/main">
            <a:pPr algn="l">
              <a:defRPr sz="788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defRPr>
            </a:pPr>
            <a:r>
              <a:rPr sz="788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rPr>
              <a:t>| 6 | TMT Route Split | 하나의 작업을 수직/수평 3구간으로 끊어 탐색 스케일 축소 |</a:t>
            </a:r>
          </a:p>
          <a:p xmlns:a="http://schemas.openxmlformats.org/drawingml/2006/main">
            <a:pPr algn="l">
              <a:defRPr sz="788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defRPr>
            </a:pPr>
            <a:r>
              <a:rPr sz="788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rPr>
              <a:t>| 7 | Hashed A* | 대형 닫힌 셋(Closed Set)을 배열 대신 해시맵 구조로 교체 |</a:t>
            </a:r>
          </a:p>
          <a:p xmlns:a="http://schemas.openxmlformats.org/drawingml/2006/main">
            <a:pPr algn="l">
              <a:defRPr sz="788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defRPr>
            </a:pPr>
            <a:r>
              <a:rPr sz="788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rPr>
              <a:t>| 8 | Hierarchical Corridor | 대략적인 Coarse 경로의 corridor 내부에서만 Fine 정밀 검증 |</a:t>
            </a:r>
          </a:p>
          <a:p xmlns:a="http://schemas.openxmlformats.org/drawingml/2006/main">
            <a:pPr algn="l">
              <a:defRPr sz="788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defRPr>
            </a:pPr>
            <a:r>
              <a:rPr sz="788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rPr>
              <a:t>| 9 | HPA* Chunk-Portal | 격자를 Chunk로 쪼개고 포탈 그래프를 구성해 거시 가이드 선출 |</a:t>
            </a:r>
          </a:p>
          <a:p xmlns:a="http://schemas.openxmlformats.org/drawingml/2006/main">
            <a:pPr algn="l">
              <a:defRPr sz="788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defRPr>
            </a:pPr>
            <a:r>
              <a:rPr sz="788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rPr>
              <a:t>| 10| Expansion Cap | 최대 확장 한도(R3D_MAX_EXP) 강제를 통해 시간 무한 루프 차단 |</a:t>
            </a:r>
          </a:p>
        </p:txBody>
      </p:sp>
    </p:spTree>
    <p:extLst>
      <p:ext uri="{BB962C8B-B14F-4D97-AF65-F5344CB8AC3E}">
        <p14:creationId xmlns:p14="http://schemas.microsoft.com/office/powerpoint/2010/main" val="155344004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069BC1-DFCF-4004-8BA6-C4CD4792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66B80-47D9-47EF-A6D3-CA9F714F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990E1-1318-4E0B-A774-F5663CD0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33. Hierarchical Corridor Routing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92630-62E2-4FC6-B07E-08DCD59C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33/55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CCDC3-4485-41D0-B44B-F1A4792B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7A75B-9D68-4D21-9CD2-A0D6B11E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F8B9A8-A36B-4A3F-B8ED-8C6E1F2A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[시작/목표 Cell] -&gt; [Coarse 해상도로 축소] -&gt; [Coarse 가이드 탐색]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                                                 |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[최종 fine 경로] &lt;- [Corridor 내부 fine 탐색] &lt;- [Corridor 팽창 (Dilation)]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3C00C-6AFD-4481-8941-744786B0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28850"/>
            <a:ext cx="110109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1. Fine 셀 좌표를 거친 Coarse 해상도 격자(예: 1/8 해상도)로 스냅 축소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2. Coarse 격자 내에서 Weighted A* 가이드 경로 탐색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3. Coarse 가이드 경로 주변을 지정 반경(hier_radius)만큼 팽창하여 3D 터널 모양의 Corridor 셋 구성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4. 원래의 Fine 해상도 점유 맵에서 생성된 Corridor 내부 셀로만 제한하여 최종 Fine A* 탐색을 가속화</a:t>
            </a:r>
          </a:p>
        </p:txBody>
      </p:sp>
    </p:spTree>
    <p:extLst>
      <p:ext uri="{BB962C8B-B14F-4D97-AF65-F5344CB8AC3E}">
        <p14:creationId xmlns:p14="http://schemas.microsoft.com/office/powerpoint/2010/main" val="71158817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E4F25C-97EC-473B-A982-7F0DD98A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2E87E-E2F8-4D27-A3B9-F14AF6D0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883F3-E1E7-45AA-BC03-316B4526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34. HPA* Portal-based Macro Guide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85BEC-1181-4528-95FA-81359C7A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34/55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CBA85-8F69-4BC3-9808-78C8228C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A0F0C9-8350-4E02-AB86-7C262EDB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공간 분할 및 추상 그래프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Coarse 격자 공간을 정육면체 단위 블록(R3D_HPA_CHUNK, 기본값: 8)으로 논리적 분할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인접 Chunk 사이의 경계 통과 지점을 탐색하여 대표 포탈(Portal) 노드로 등록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Abstract Graph A*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동일 Chunk 내 포탈 간 연결성 및 인접 Chunk 포탈 쌍을 그래프 에지(Edge)로 매핑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포탈 그래프 상에서 가이드 탐색 수행 후 실패 시 기존 Coarse A*로 Fallback</a:t>
            </a:r>
          </a:p>
        </p:txBody>
      </p:sp>
    </p:spTree>
    <p:extLst>
      <p:ext uri="{BB962C8B-B14F-4D97-AF65-F5344CB8AC3E}">
        <p14:creationId xmlns:p14="http://schemas.microsoft.com/office/powerpoint/2010/main" val="180715551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1E8010-EF52-414D-8C0D-1C13342E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7C4E9-186A-4024-A87B-290EBCBE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DB3A4-C7FD-467F-B8D4-23EBDCA8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3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35. Octree-guided fine corridor fallback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E51C3-7587-4DD8-8DA6-E7DC523D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35/55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ACACC-67C0-4FFB-9AC3-A6544A0B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72F97-7298-4873-BE09-10BA3ADC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동작 시점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다중 배관 탐색 시, 장애물 밀집도가 너무 높아 일반 A* Probe 연산 횟수가 hier_probe 상한선을 초과할 때 대체 가동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알고리즘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1. 정적 장애물 AABB를 옥트리 빌드하여 OctreeOccupancy 구성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2. 옥트리를 이용해 빠르게 도약하는 Macro Path 탐색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3. Macro Path 주변 공간을 corridor_radius만큼 확장하여 fine-cell corridor 영역 확보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4. 기존 Dense/Implicit/Vdb 원본 맵의 Corridor 경계 내에서 정밀 Fine A* 검증 완료</a:t>
            </a:r>
          </a:p>
        </p:txBody>
      </p:sp>
    </p:spTree>
    <p:extLst>
      <p:ext uri="{BB962C8B-B14F-4D97-AF65-F5344CB8AC3E}">
        <p14:creationId xmlns:p14="http://schemas.microsoft.com/office/powerpoint/2010/main" val="128120476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F64AA5-2193-4613-96F7-6D54DFE3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3F259-38B3-4FE9-A9B6-34B22C5A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D49CA4-AF08-4DDC-9F20-4D9185FB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3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36. TruckIn / Middle / Terminal (TMT) 분할 라우팅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8702C-3BA7-44DF-AA63-FC1802DE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36/55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99DFF-0189-4336-BEBF-7215B790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D8391-BE0A-4711-8421-05804865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배관 설계의 TMT 도메인 지식 반영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시작 설비 PoC에서 수직 하강/상승(TruckIn) → 주 랙 통로 수평 주행(Middle Trunk) → 목표 설비로 하강/상승(Terminal)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self-blocking 방지 설계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한 배관의 3구간 탐색이 모두 완료되어 최종 병합되기 전까지는 맵에 마킹하지 않으므로 구간 간 자승 간섭 차단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한 구간이라도 탐색 실패 시 direct A*로 복귀</a:t>
            </a:r>
          </a:p>
        </p:txBody>
      </p:sp>
    </p:spTree>
    <p:extLst>
      <p:ext uri="{BB962C8B-B14F-4D97-AF65-F5344CB8AC3E}">
        <p14:creationId xmlns:p14="http://schemas.microsoft.com/office/powerpoint/2010/main" val="127118178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65014A-1D63-4828-99DD-EFDF2751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7348D-55AF-43B6-8516-3AF58272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377F5-2E0A-4252-A556-98866482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37. TMT Waypoint 분할 규칙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FA6210-0FFD-4FFA-89FE-34B13B8E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37/55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7DAC3-5981-4944-A1E2-6335E327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D9820-A8F6-42F9-8770-552AB0BC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수평/수직 분할점 자동 도출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시작 셀 s, 목표 셀 g, 트렁크 기준 높이 trunk_k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$Waypoint_1 = s$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$Waypoint_2 = (s.i, s.j, trunk_k)$ : TruckIn 종단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$Waypoint_3 = (g.i, g.j, trunk_k)$ : Middle 종단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$Waypoint_4 = g$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Trunk 높이 Z 결정 알고리즘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1. 사용자 명시 높이(trunk_z_mm)가 있으면 해당 고도로 설정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2. 명시 높이가 없고 랙 레벨(rack_levels)이 정의되어 있다면, $\max(s.k, g.k) + 4$ 에 근접한 선호 랙 고도 선택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3. 최후 수단으로 $\max(s.k, g.k) + 4$ 단계를 자동 Trunk 높이로 적용</a:t>
            </a:r>
          </a:p>
        </p:txBody>
      </p:sp>
    </p:spTree>
    <p:extLst>
      <p:ext uri="{BB962C8B-B14F-4D97-AF65-F5344CB8AC3E}">
        <p14:creationId xmlns:p14="http://schemas.microsoft.com/office/powerpoint/2010/main" val="209932978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9B2FFB-B823-40B9-9190-3638C6F7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56AC3-5B60-4117-8CE3-12E010E6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94140A-90F6-4840-B4C5-F5E80D71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38. 실전 Exhaust 배관 6가지 라우팅 비교 설계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04519-AEC0-4136-9E84-76732AAB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38/55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D4D60-E870-404F-BA59-D6A4B644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1E60D-9825-4353-908C-5D025A51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실험 대상 환경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DDW_AI_DB 프로젝트 1 / WTNHJ02 / 25mm 정밀 격자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장비 주변 배관 다발 군집 20개 작업 대상 일괄 배치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비교 방식 분류 (S1 ~ S6)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S1: Weighted A* baseline (가이드/스텁/패턴 없는 기본형)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S2: PoC snap + learned face (기존설계 ANN 면 방향 보정 및 snap)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S3: Stub endpoints + A* (매칭된 기존 배관 종단 stub 스케일 단축)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S4: Existing-design corridor (S3에 기존 설계 추종 corridor 가중치 반영)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S5: Learned rack + bundle (S3에 대표 랙 높이 및 번들 패턴 적용)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S6: Follow existing + local repair (기존선 재현 복제 후 막힌 구간 국소 수리)</a:t>
            </a:r>
          </a:p>
        </p:txBody>
      </p:sp>
    </p:spTree>
    <p:extLst>
      <p:ext uri="{BB962C8B-B14F-4D97-AF65-F5344CB8AC3E}">
        <p14:creationId xmlns:p14="http://schemas.microsoft.com/office/powerpoint/2010/main" val="146864864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76C417-6EAD-410A-A151-A1DF10E2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D9C0A-ECDC-4F8C-89F1-D5568FB4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BBBEE-CB36-471B-8135-CE402941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39. S1 ~ S6 라우팅 정량 비교 결과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268676-A3D4-4EA0-B16F-94D6CDE6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39/55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31BC8-DCDF-4E29-8B84-6393DB6B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D7117-B653-45CD-A978-DE98292C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A908EE-5231-4A93-A234-C4BAD83E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rPr>
              <a:t>| ID | 라우팅 전략 | 성공 여부 | 소요 시간(s) | 총 길이(mm) | 꺾임 횟수 | rackZ 비율 | 비고 |</a:t>
            </a:r>
          </a:p>
          <a:p xmlns:a="http://schemas.openxmlformats.org/drawingml/2006/main">
            <a:pPr algn="l">
              <a:defRPr sz="900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rPr>
              <a:t>|---|---|---|---|---|---|---|---|</a:t>
            </a:r>
          </a:p>
          <a:p xmlns:a="http://schemas.openxmlformats.org/drawingml/2006/main">
            <a:pPr algn="l">
              <a:defRPr sz="900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rPr>
              <a:t>| S1 | Weighted A* baseline | 20 / 20 | 92.96 | 315,175 | 147 | 0.0% | 기준 fallback 경로 |</a:t>
            </a:r>
          </a:p>
          <a:p xmlns:a="http://schemas.openxmlformats.org/drawingml/2006/main">
            <a:pPr algn="l">
              <a:defRPr sz="900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rPr>
              <a:t>| S2 | PoC snap + face | 20 / 20 | 91.60 | 315,100 | 149 | 0.0% | 접속점 사전보정 |</a:t>
            </a:r>
          </a:p>
          <a:p xmlns:a="http://schemas.openxmlformats.org/drawingml/2006/main">
            <a:pPr algn="l">
              <a:defRPr sz="900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rPr>
              <a:t>| S3 | Stub endpoints | 20 / 20 | 3.53 | 67,650 | 31 | 93.1% | 탐색 스케일 급감 |</a:t>
            </a:r>
          </a:p>
          <a:p xmlns:a="http://schemas.openxmlformats.org/drawingml/2006/main">
            <a:pPr algn="l">
              <a:defRPr sz="900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rPr>
              <a:t>| S4 | Existing corridor | 20 / 20 | 3.29 | 67,650 | 32 | 88.8% | 최속 탐색 속도 |</a:t>
            </a:r>
          </a:p>
          <a:p xmlns:a="http://schemas.openxmlformats.org/drawingml/2006/main">
            <a:pPr algn="l">
              <a:defRPr sz="900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rPr>
              <a:t>| S5 | Learned rack/bundle | 20 / 20 | 3.31 | 67,650 | 31 | 93.1% | 랙Z 만족도 최고 |</a:t>
            </a:r>
          </a:p>
          <a:p xmlns:a="http://schemas.openxmlformats.org/drawingml/2006/main">
            <a:pPr algn="l">
              <a:defRPr sz="900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F8FAFC"/>
                </a:solidFill>
                <a:latin typeface="Cascadia Mono"/>
                <a:ea typeface="Cascadia Mono"/>
                <a:cs typeface="Cascadia Mono"/>
              </a:rPr>
              <a:t>| S6 | Follow &amp; Local repair | 시간초과 | - | - | - | - | 9분 경과 수동종료 |</a:t>
            </a:r>
          </a:p>
        </p:txBody>
      </p:sp>
    </p:spTree>
    <p:extLst>
      <p:ext uri="{BB962C8B-B14F-4D97-AF65-F5344CB8AC3E}">
        <p14:creationId xmlns:p14="http://schemas.microsoft.com/office/powerpoint/2010/main" val="80425396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1F6D97-D56B-48CC-B541-E3571F94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C00B1-788E-4D42-894E-C1AF5D08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DB558-37B1-440D-BC85-521AA7FD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40. Exhaust 비교 결론 및 운영 가이드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1E8AF-4FDB-46E5-980B-2AA55527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40/55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941729-9D7B-4FAC-B602-B3CE3F95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9726B-66CD-4883-82B1-3A838F8B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실전 최우선 적용 가이드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Exhaust 배관 랙 설계 모델 시 S3 및 S5 옵션을 우선 적용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다발 정렬 및 기존 선로와의 완벽한 동조 검토 시 S4 옵션을 병행 검토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S1/S2의 용도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PoC 진입 접속로가 막히거나 내부 오류 발생 시의 예비 복구선으로 유지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S6(Local Repair) 배제 사유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전체 경로 복제 복구 시, 수리 범위 제한(Cap) 및 세그먼트 타임아웃 방어막이 구현되기 전까지는 대량 배치 작업의 기본값으로 사용 금지</a:t>
            </a:r>
          </a:p>
        </p:txBody>
      </p:sp>
    </p:spTree>
    <p:extLst>
      <p:ext uri="{BB962C8B-B14F-4D97-AF65-F5344CB8AC3E}">
        <p14:creationId xmlns:p14="http://schemas.microsoft.com/office/powerpoint/2010/main" val="205178803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5A7FD6-7763-4F9A-A160-91DA5C20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C36CF-8A2B-4A29-B7E0-92647955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D42B3-F5C2-4AE3-9C29-989196F3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41. CBS-lite 협상 라우팅 깊이 설정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4CE9F-A621-4940-AACF-A0113CE9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41/55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CEB44-DA4A-4E88-9478-E0BA0457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A6C1B1-F407-4B11-B052-7BFCF19B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블로커 간의 재귀 양보 메커니즘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rip-up 이후에도 막힌 배관이 생기면, 충돌 원인을 유발한 1차 blocker 및 2차 blocker의 blocker 노드를 찾아 순서를 밀어주고 양보 유도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깊이(Depth) 설정과 연산 복잡도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depth 가 0 이면 CBS-lite 비활성화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depth 가 1~2 이면 안정적인 선에서 충돌 완화 처리 작동 (WPF 뷰어 CBS 체크 시 depth=2 인가)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depth 가 3 이상인 경우, 연산 대상 조합이 기하급수적으로 폭발하여 실행 타임아웃 위험이 생기므로 주의가 필요함</a:t>
            </a:r>
          </a:p>
        </p:txBody>
      </p:sp>
    </p:spTree>
    <p:extLst>
      <p:ext uri="{BB962C8B-B14F-4D97-AF65-F5344CB8AC3E}">
        <p14:creationId xmlns:p14="http://schemas.microsoft.com/office/powerpoint/2010/main" val="176814527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6ED597-96E3-434D-9F1A-B33A84FB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4D671-FCCB-4A70-9C6B-CB679316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22E89-482B-4DE3-9F3E-E5152D24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42. C ABI 명세: 상태 코드 (R3dStatus)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8DB47-A88B-4D58-A3CA-F23594A4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42/55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98C46-CB47-44A9-A38F-585F6F0C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BE403-353D-478A-8C3C-6D8C1872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R3D_OK (0): 모든 명령 및 메모리 가동 정상 완료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R3D_ERR_ARG (1): 핸들 null 포인터 전달, 음수 인덱스 등 인자 오류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R3D_ERR_PARSE (2): 입력받은 scene.json 텍스트 파싱 및 복원 실패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R3D_ERR_RUNTIME (3): 엔진 탐색 내부에서 예상치 못한 메모리 할당 제한, open list 예외 발생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R3D_ERR_RANGE (4): 등록된 배관 수 범위 밖의 인덱스로 결과 조회를 시도할 때 반환</a:t>
            </a:r>
          </a:p>
        </p:txBody>
      </p:sp>
    </p:spTree>
    <p:extLst>
      <p:ext uri="{BB962C8B-B14F-4D97-AF65-F5344CB8AC3E}">
        <p14:creationId xmlns:p14="http://schemas.microsoft.com/office/powerpoint/2010/main" val="72422871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F4C34B-5BA6-4419-82E1-58FB1E7E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8CEBA-7B6C-446E-BE7F-67913E88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B0CF8-F051-435D-B82C-2C4ABDEE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43. C ABI Level 1: 문자열 scene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85FC0-9AC8-44B3-B63E-CDD174ED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43/55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13112-82A9-4A3A-A2E7-417419DA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BBB8A-49D8-45E2-9977-F41DAE1C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동작 사양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엔진 인스턴스를 사용자가 직접 핸들링하지 않고, 인스턴스 생성부터 라우팅, 결과 덤프와 파괴를 API 한 줄로 일괄 대행 처리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B2AA2-660F-416A-89CE-B53C3EE8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110109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AE3ECA-1DA5-4184-BB26-72F68F01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R3dStatus r3d_route_scene_text(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const char* scene_text,      // 입력 scene.json 문자열 (UTF-8)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const char* mode,            // "single", "multi", "ripup" 중 선택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const char* priority,        // "longest", "shortest", "utility" 등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char out_scene_text        // 완료 후 덤프된 scene.json 출력 주소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);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void r3d_free_string(char* s);   // 출력 텍스트 전용 메모리 해제 함수</a:t>
            </a:r>
          </a:p>
        </p:txBody>
      </p:sp>
    </p:spTree>
    <p:extLst>
      <p:ext uri="{BB962C8B-B14F-4D97-AF65-F5344CB8AC3E}">
        <p14:creationId xmlns:p14="http://schemas.microsoft.com/office/powerpoint/2010/main" val="28868624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BD1D85-800A-49CE-BA1A-2D68E1C3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42110-32B5-4788-B60C-BB7BBF4F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9A71E-2398-4C69-894E-3072B337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44. C ABI Level 2: 엔진 핸들 생성 및 격자 설정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DA5AD-D674-450F-8256-87486CE7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44/55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2F819-E171-4635-A65A-2AECE3C5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545110-DA20-4AEA-804B-6D421425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엔진 수명 주기 및 파라미터 연동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2A814-4C78-4379-8991-7FB16637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66900"/>
            <a:ext cx="110109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0F7E7F-4E5E-4360-8EA2-C945D5B6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680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R3dEngine* e = r3d_create(); // 엔진 핸들 동적 할당 생성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R3dGrid grid = { 50.0, 0.0, 0.0, 0.0, 120, 120, 60 };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r3d_set_grid(e, &amp;grid); // 격자 원점 및 형태 정보 지정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R3dParams p = {0};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p.cell_mm = 50.0;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p.w_turn = 500.0;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p.w_clear = 10.0;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p.w_heur = 1.0;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p.clearance_radius = 2;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p.clearance_connectivity = 6;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r3d_set_params(e, &amp;p); // 비용 인자 지정</a:t>
            </a:r>
          </a:p>
        </p:txBody>
      </p:sp>
    </p:spTree>
    <p:extLst>
      <p:ext uri="{BB962C8B-B14F-4D97-AF65-F5344CB8AC3E}">
        <p14:creationId xmlns:p14="http://schemas.microsoft.com/office/powerpoint/2010/main" val="197776732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7BD9C8-0187-4272-A8EA-484A8F27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BEA49-6FE7-4026-B77B-954A2E2B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3E305-FA3F-42B8-9714-1A92AACE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45. C ABI: 장애물 및 태스크 동적 추가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0F2E1-DEE0-418A-BE50-1DC3408B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45/55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168DC-18E0-489D-B787-C6A6C6D7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780BB-766C-4525-8933-3BD9CFF1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장애물 영역 및 라우팅 태스크 추가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2B61F-B874-4BB5-96A0-BFAFF256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66900"/>
            <a:ext cx="110109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E3D2D-BD44-4AAD-BCF7-2CF745D5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680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// 정적 장애물 AABB 등록 (world_mm 단위)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r3d_add_obstacle(e, 0.0, 0.0, 0.0, 6000.0, 6000.0, 250.0);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// 시각화용 가상 통과 통로(Passthrough) 정보 지정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r3d_add_passthrough(e, 1000.0, 1000.0, 500.0, 2000.0, 2000.0, 800.0);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// 신규 라우팅 태스크 추가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int32_t task_id = r3d_add_task(e,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275.0, 3025.0, 1525.0,  // 시작 좌표 (mm)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5725.0, 3025.0, 1525.0,  // 목표 좌표 (mm)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"PA", "Gas"              // Utility / Group 명칭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396986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448427-1376-4F9F-9444-7F2500B1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3EB7A-8BED-465C-B7AF-C3209CD4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469433-4057-4573-B5E3-4B407BBF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46. C ABI: 라우팅 실행 및 결과 조회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C2DBF-2884-4030-9141-C2303505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46/55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1B6C9-44F4-4A1D-BFD1-ECB2EDAD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46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26493-67AE-4D71-A52F-4AC14A91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다중 배관 일괄 실행 및 버퍼 복사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1A31E-18F7-4111-BD45-988499CB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66900"/>
            <a:ext cx="110109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D8C79-8E01-48F9-887C-05516E30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680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r3d_route_multi(e, "longest"); // 관경/길이 정렬 다중 순차 배치 기동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R3dResult result;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r3d_get_result(e, task_id, &amp;result); // 성공 여부, turns, path_len 수집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if (result.success &amp;&amp; result.path_len &gt; 0) {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// path_len * 3 (i,j,k) 공간의 버퍼 동적 할당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int32_t* path_buffer = (int32_t*)malloc(sizeof(int32_t) * 3 * result.path_len);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r3d_copy_path(e, task_id, path_buffer, result.path_len);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// 복사 완료된 격자 좌표들 가공 처리 수행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free(path_buffer);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6699047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89D452-779D-4824-A4DC-35113632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A135B-D572-443A-8DC6-70EE3909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F1A51-4862-404B-A681-FCB2D7C6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47. C ABI: 옥트리 제어 및 Leaf 조회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09825-7EEA-413A-96C8-2337E6CC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47/55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08D9E-87F8-40DB-AAD0-B0D10D99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47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62BC94-D455-4A74-84BC-8943175D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옥트리 잎 노드 열거를 통한 3D 가시화 연동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9B15F8-2826-4EE7-AE4F-D0924C4B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66900"/>
            <a:ext cx="110109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F647DC-FAD5-440D-8621-D71D2F7E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680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R3dOctreeLeaf leaves[4096];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int32_t out_leaf_count = 0;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// 1) 버퍼 크기가 0일 때 전체 생성된 노드 개수 사전 파악 (Size Query)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r3d_enum_octree_leaves(e, NULL, 0, &amp;out_leaf_count);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// 2) 실제 버퍼를 확보하여 잎들의 world 좌표 및 크기, Block 상태 복사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int32_t copy_limit = out_leaf_count &lt; 4096 ? out_leaf_count : 4096;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r3d_enum_octree_leaves(e, leaves, copy_limit, &amp;out_leaf_count);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4136F-8113-4DB1-9E83-5CFCA775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529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각 리프의 state 정보(0=FREE, 1=BLOCKED)를 바탕으로 3D 뷰어 화면에서 적응형 복셀 박스로 표현</a:t>
            </a:r>
          </a:p>
        </p:txBody>
      </p:sp>
    </p:spTree>
    <p:extLst>
      <p:ext uri="{BB962C8B-B14F-4D97-AF65-F5344CB8AC3E}">
        <p14:creationId xmlns:p14="http://schemas.microsoft.com/office/powerpoint/2010/main" val="104125417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C11FE9-1F41-469D-A872-0F9E1665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166F9-D3A4-4E36-98A5-BBF49590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7F69C-65DA-43A3-8C79-6B74780D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48. C# Managed Wrapper 구조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FF99E-5608-4260-8117-DDB98765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48/55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525BB-846B-49FE-AB9C-2A535D03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3D915-72D3-48EC-85C3-86A8594F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C# Routing3DEngine 클래스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IDisposable 인터페이스를 구현하여 네이티브 C++ R3dEngine 핸들의 동적 해제(r3d_destroy)를 관리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형상 표현을 위한 공통 record 타입 선언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3401E7-2DC4-4EBB-BAB3-804D07E1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10109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64CF0A-35B3-48A0-B3E4-902DA74A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6680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public readonly record struct OctreeLeaf(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float X0Mm, float Y0Mm, float Z0Mm,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float SizeMm,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int State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);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public class RouteResult {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public bool Success { get; set; }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public IReadOnlyList&lt;Cell&gt; Path { get; set; } = Array.Empty&lt;Cell&gt;();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public double LengthMm { get; set; }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public int Turns { get; set; }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public long ExpandedNodes { get; set; }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public int Fail { get; set; }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59876280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83DFC0-311E-42E7-9F8B-B6FD24A1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E4067-4AAB-4FB8-AB7F-C7C276E9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85B96-F5C4-4971-93FC-1655F84C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49. C# P/Invoke 브릿지 및 DLL 마샬링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18C61-0A5B-45D2-9106-E5A8E730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49/55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26096-C92E-4399-98C9-3B26DFFA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49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B363C-DB58-4E3C-B98E-35FAD8FF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70EAE-8E9F-4752-9C6B-47DABC88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106680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internal static class NativeMethods {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[DllImport("routing3d_capi", CallingConvention = CallingConvention.Cdecl)]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public static extern IntPtr r3d_create();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[DllImport("routing3d_capi", CallingConvention = CallingConvention.Cdecl)]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public static extern void r3d_destroy(IntPtr e);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[DllImport("routing3d_capi", CallingConvention = CallingConvention.Cdecl)]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public static extern int r3d_enum_octree_leaves(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    IntPtr e,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    [Out] R3dOctreeLeaf[]? buf,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    int maxCount,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    out int outCount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);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8270AC-0D52-4729-A7A3-6506CF08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577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마샬링 규칙: 64비트 호환을 위해 x64 환경 빌드를 강제하며, 복사 배열 버퍼에는 [Out] 마샬링 속성을 지정</a:t>
            </a:r>
          </a:p>
        </p:txBody>
      </p:sp>
    </p:spTree>
    <p:extLst>
      <p:ext uri="{BB962C8B-B14F-4D97-AF65-F5344CB8AC3E}">
        <p14:creationId xmlns:p14="http://schemas.microsoft.com/office/powerpoint/2010/main" val="174554036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C2DF74-D732-4C21-8D2A-C40ADE24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9808CC-9814-47E1-ADA6-2B7CC1CB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52C389-12A7-4363-A484-D344FC2B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50. C# 8단계 튜토리얼 아웃라인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21E66-7D80-4E06-AB67-12A42B43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50/55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3D97D-DD06-4BBB-B6FA-A435F961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ADD5B-0BC0-4B1F-A846-EC1C4B0A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Routing3DTutorialSteps.cs 런타임 실행 단계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- 1단계: 10mm 미세 격자 구성 및 turn penalty 파라미터 주입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- 2단계: 기둥, 벽체, 설비 장애물 AABB 추가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- 3단계: diameter_mm 관경 및 goal_dir 방향 제약 조건 주입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- 4단계: 단일 타스크 Octree Jump A* 기동 및 잎 데이터 복사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- 5단계: 대형 격자용 Hierarchical Corridor 라우팅 수행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- 6단계: 다중 배관 일괄 라우팅 및 cbs depth=2 설정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- 7단계: Waypoint 리스트를 Task Segment로 연쇄 가동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- 8단계: DumpSceneText()를 호출해 디스크에 scene.json으로 보관</a:t>
            </a:r>
          </a:p>
        </p:txBody>
      </p:sp>
    </p:spTree>
    <p:extLst>
      <p:ext uri="{BB962C8B-B14F-4D97-AF65-F5344CB8AC3E}">
        <p14:creationId xmlns:p14="http://schemas.microsoft.com/office/powerpoint/2010/main" val="2084427145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A2C2B6-555F-481D-87D0-56F5B3F0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EAEFA-D9A6-4F65-9E7D-01AEE095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B392B-8675-4DF1-B5B1-D451E992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51. C# 다중 배관 라우팅 실시간 Progress 처리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21971-D1C1-4FC7-9ECA-989B2B30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51/55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5E221-67E5-47BA-A798-85C7658E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51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054BA-11D2-4734-9B0F-A7538793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배치 가동 진행률 및 중도 취소 수집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892C9-D612-4066-A43B-586672C8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66900"/>
            <a:ext cx="11010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46A86-4ED1-4864-9999-132334F8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680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engine.RouteMultiProgress("diameter", progress =&gt; {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// phase == 1 일 때 하나의 배관이 완배치되었음을 의미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if (progress.Phase == 1) {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    Console.WriteLine($"Task {progress.TaskIndex} 완료. " +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        $"결과: {progress.Success}, 길이: {progress.LengthMm:N1}mm");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}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// UI 스레드 취소 상태 수집 시 1을 반환하면 배관 배치 루프 cooperative 중단 작동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return IsUserCancelled ? 1 : 0;</a:t>
            </a:r>
          </a:p>
          <a:p xmlns:a="http://schemas.openxmlformats.org/drawingml/2006/main">
            <a:pPr algn="l">
              <a:def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574742419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0AA7C1-AE32-45C7-B4FB-9CC8D1FB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D33C5-84C7-4D2F-B954-2194A516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F350CE-D16B-40D4-8BB2-C8FCE72B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52. CLI 및 CMake 빌드 옵션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D7B00C-D857-4766-B236-A97F4306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52/55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B1DBE-6E5F-4A90-8D5F-BDAE7B7B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52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44ACD-772F-49E6-8E29-BC2D9FF0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CMake 주요 옵션 스위치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-DUSE_OPENVDB=ON : OpenVDB 백엔드 연동 활성화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-DBUILD_PYTHON_BINDINGS=ON : 파이썬 바인딩 컴파일 활성화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CLI 실행 명령어 패턴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37272-4112-4A7B-835D-B95A7730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110109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1BA16-99F8-42E9-A608-A3C3AFB0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내장 가상 데모 씬 가동 및 출력 JSON 저장</a:t>
            </a:r>
          </a:p>
          <a:p xmlns:a="http://schemas.openxmlformats.org/drawingml/2006/main">
            <a:pPr algn="l">
              <a:defRPr sz="9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routing3d_cli.exe demo --out result.scene.json</a:t>
            </a:r>
          </a:p>
          <a:p xmlns:a="http://schemas.openxmlformats.org/drawingml/2006/main">
            <a:pPr algn="l">
              <a:defRPr sz="9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scene.json 파일을 로드해 순차 다중 라우팅 수행</a:t>
            </a:r>
          </a:p>
          <a:p xmlns:a="http://schemas.openxmlformats.org/drawingml/2006/main">
            <a:pPr algn="l">
              <a:defRPr sz="9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routing3d_cli.exe route --in scene.json --out routed.scene.json --mode multi --priority longest</a:t>
            </a:r>
          </a:p>
          <a:p xmlns:a="http://schemas.openxmlformats.org/drawingml/2006/main">
            <a:pPr algn="l">
              <a:defRPr sz="9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라우팅 완료 씬의 정량 요약 정보 콘솔 출력</a:t>
            </a:r>
          </a:p>
          <a:p xmlns:a="http://schemas.openxmlformats.org/drawingml/2006/main">
            <a:pPr algn="l">
              <a:defRPr sz="9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routing3d_cli.exe summary --in scene.json</a:t>
            </a:r>
          </a:p>
        </p:txBody>
      </p:sp>
    </p:spTree>
    <p:extLst>
      <p:ext uri="{BB962C8B-B14F-4D97-AF65-F5344CB8AC3E}">
        <p14:creationId xmlns:p14="http://schemas.microsoft.com/office/powerpoint/2010/main" val="1346734562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2B6A22-76ED-48ED-A431-9DCDAE68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C9A14-FF08-4853-A2A9-5A09FC87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A8A53-1611-44BC-86BB-C6B99EDB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53. Trace JSONL 진단 로그 규격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C89B6-805B-48A2-A3C9-438A0C1B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53/55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9CEF69-7C2A-42E8-A154-15E38546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53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AA183-C5E8-4AE3-849A-5980EE13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목적: 라우팅 중 생성된 방문 격자, 탐색 거부 후보 등의 정보를 실시간 누적 기록하여 Replay Viewer에서 시각화 재생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048EF-A439-46C1-87B8-5789CA8F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66900"/>
            <a:ext cx="11010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0AE70-07DC-4D1E-9047-D8FC2D25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{"event": "trace_header", "version": "3", "shape": [120, 120, 60]}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{"event": "task_begin", "task_id": 0, "start": [5,60,30], "goal": [115,60,30]}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{"event": "expand_cell", "cell": [10,60,30], "g": 250.0, "h": 5250.0, "dir": 0}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{"event": "candidate_reject", "cell": [10,61,30], "reason": "ClearanceViolation"}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{"event": "route_split_plan", "trunk_k": 10, "waypoints": [[5,60,1], [5,60,10]]}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{"event": "route_path", "path_len": 110, "path_cells": [[5,60,30], [6,60,30]]}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FBA0FA-0548-4799-AA6E-095DDA30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995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r3d_flush_trace(): 로그 버퍼의 즉각적인 플러싱을 통해 파일 잠금(Locking) 완화</a:t>
            </a:r>
          </a:p>
        </p:txBody>
      </p:sp>
    </p:spTree>
    <p:extLst>
      <p:ext uri="{BB962C8B-B14F-4D97-AF65-F5344CB8AC3E}">
        <p14:creationId xmlns:p14="http://schemas.microsoft.com/office/powerpoint/2010/main" val="1126259612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AA2235-FACB-4650-8E01-BA8E39FE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8C888-9B5F-4F7F-87C8-5EB4E777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AE8B7-DEDC-412E-98AA-DA3FD760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54. 라우팅 실패 원인 추적 디버깅 절차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5E6AE4-D43D-4D60-8A37-039213F7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54/55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1C577-52BE-43B5-815A-45D5DC63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54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60F4EB-C76C-41FB-B8E4-BD28E10B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89C62-EC36-412C-B5D6-775FBEA5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106680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[실패 사유 (fail_reason) 확인]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 |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 +---&gt; StartBlocked / GoalBlocked  --&gt; 접속점 주변 장애물 간섭 제거 / Snap 반경 확장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 |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 +---&gt; ExpansionLimit  --------------&gt; R3D_MAX_EXP 상한선 상향 조정 / Corridor 확장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 |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 +---&gt; GoalDirBlocked  --------------&gt; 진입 강제 방향 k축 주변 장애물 탐색 및 완화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 |</a:t>
            </a:r>
          </a:p>
          <a:p xmlns:a="http://schemas.openxmlformats.org/drawingml/2006/main">
            <a:pPr algn="l">
              <a:def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0">
                <a:solidFill>
                  <a:srgbClr val="FBCFE8"/>
                </a:solidFill>
                <a:latin typeface="Cascadia Mono"/>
                <a:ea typeface="Cascadia Mono"/>
                <a:cs typeface="Cascadia Mono"/>
              </a:rPr>
              <a:t>     +---&gt; NoPath  ----------------------&gt; 기존 배관 병목 확인 및 CBS-lite depth 활성화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253B17-FDEC-43C6-A6AA-8EDC9208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scene.json 재현 고정:</a:t>
            </a:r>
          </a:p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오류 발생 시 r3d_dump_scene_text()를 호출해 해당 시점의 입력 상황을 즉시 scene.json 파일로 추출한 후, 독립 CLI 도구를 통해 디버깅 수행</a:t>
            </a:r>
          </a:p>
        </p:txBody>
      </p:sp>
    </p:spTree>
    <p:extLst>
      <p:ext uri="{BB962C8B-B14F-4D97-AF65-F5344CB8AC3E}">
        <p14:creationId xmlns:p14="http://schemas.microsoft.com/office/powerpoint/2010/main" val="112907868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7225C1-4FC3-46CD-B75D-44923EF7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0B90E-1C42-49DB-9FE5-1CAFC989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90600"/>
            <a:ext cx="1143000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E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D52F4-B7C8-4F96-B7D5-982B7656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2625" b="1">
                <a:solidFill>
                  <a:srgbClr val="00F0FF"/>
                </a:solidFill>
                <a:latin typeface="Segoe UI Semibold"/>
                <a:ea typeface="Segoe UI Semibold"/>
                <a:cs typeface="Segoe UI Semibold"/>
              </a:rPr>
              <a:t>Slide 55. 확인된 한계점 및 보완 개발 우선순위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74CB5-013D-4BA5-AA93-7FA848E9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Routing3D C++ Engine API  |  55/55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67931-8A40-42C0-9779-354CCD75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Slide 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7560C-FE13-4E72-B8DC-63981046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110109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P1: 비대화된 routing3d_capi.cpp 구조 개선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C ABI 소스에 가이드 로직, TMT 분할, CBS 양보 오케스트레이션이 섞여 있어 복잡함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대책: 라우팅 파이프라인 전용 서비스 도메인 모듈로 리팩토링 분리 권장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P1: Trace JSONL 공유 읽기 잠금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실시간 재생 시 대용량 파일에 쓰기가 누적되면서 락 문제 발생 가능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대책: Append 전용 공유 모드 열기 및 로그 파일 세그먼테이션(Rotation) 도입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* P2: Anytime API의 다중 라우팅 확장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Anytime Weighted A*가 현재 단일 태스크 탐색으로 묶여 있음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  - 대책: Progress 다중 라우팅에 각 태스크별 시간 분배를 연동하는 로직 추가</a:t>
            </a:r>
          </a:p>
        </p:txBody>
      </p:sp>
    </p:spTree>
    <p:extLst>
      <p:ext uri="{BB962C8B-B14F-4D97-AF65-F5344CB8AC3E}">
        <p14:creationId xmlns:p14="http://schemas.microsoft.com/office/powerpoint/2010/main" val="10253477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2026-06-23T06:26:23.3180000Z</dcterms:created>
  <dcterms:modified xsi:type="dcterms:W3CDTF">2026-06-23T06:26:23.3180000Z</dcterms:modified>
</coreProperties>
</file>